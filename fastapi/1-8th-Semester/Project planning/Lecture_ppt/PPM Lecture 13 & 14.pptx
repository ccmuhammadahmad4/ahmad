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9" r:id="rId8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4540" y="1653286"/>
            <a:ext cx="7293787" cy="11511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DBF5F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D1EAED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DBF5F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D1EAED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DBF5F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D1EAED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DBF5F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D1EAED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D1EAED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247"/>
            <a:ext cx="9144000" cy="102615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01357" y="0"/>
            <a:ext cx="4742642" cy="5999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9090278" cy="101993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-866" y="52959"/>
            <a:ext cx="9145628" cy="9006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404571"/>
            <a:ext cx="8255000" cy="139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DBF5F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459004"/>
            <a:ext cx="8054975" cy="4795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97569" y="6539720"/>
            <a:ext cx="2413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D1EAED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8.png"/><Relationship Id="rId21" Type="http://schemas.openxmlformats.org/officeDocument/2006/relationships/image" Target="../media/image63.png"/><Relationship Id="rId42" Type="http://schemas.openxmlformats.org/officeDocument/2006/relationships/image" Target="../media/image84.png"/><Relationship Id="rId47" Type="http://schemas.openxmlformats.org/officeDocument/2006/relationships/image" Target="../media/image89.png"/><Relationship Id="rId63" Type="http://schemas.openxmlformats.org/officeDocument/2006/relationships/image" Target="../media/image105.png"/><Relationship Id="rId68" Type="http://schemas.openxmlformats.org/officeDocument/2006/relationships/image" Target="../media/image110.png"/><Relationship Id="rId16" Type="http://schemas.openxmlformats.org/officeDocument/2006/relationships/image" Target="../media/image58.png"/><Relationship Id="rId11" Type="http://schemas.openxmlformats.org/officeDocument/2006/relationships/image" Target="../media/image53.png"/><Relationship Id="rId32" Type="http://schemas.openxmlformats.org/officeDocument/2006/relationships/image" Target="../media/image74.png"/><Relationship Id="rId37" Type="http://schemas.openxmlformats.org/officeDocument/2006/relationships/image" Target="../media/image79.png"/><Relationship Id="rId53" Type="http://schemas.openxmlformats.org/officeDocument/2006/relationships/image" Target="../media/image95.png"/><Relationship Id="rId58" Type="http://schemas.openxmlformats.org/officeDocument/2006/relationships/image" Target="../media/image100.png"/><Relationship Id="rId74" Type="http://schemas.openxmlformats.org/officeDocument/2006/relationships/image" Target="../media/image116.png"/><Relationship Id="rId79" Type="http://schemas.openxmlformats.org/officeDocument/2006/relationships/image" Target="../media/image121.png"/><Relationship Id="rId5" Type="http://schemas.openxmlformats.org/officeDocument/2006/relationships/image" Target="../media/image47.png"/><Relationship Id="rId61" Type="http://schemas.openxmlformats.org/officeDocument/2006/relationships/image" Target="../media/image103.png"/><Relationship Id="rId82" Type="http://schemas.openxmlformats.org/officeDocument/2006/relationships/image" Target="../media/image124.png"/><Relationship Id="rId19" Type="http://schemas.openxmlformats.org/officeDocument/2006/relationships/image" Target="../media/image6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Relationship Id="rId27" Type="http://schemas.openxmlformats.org/officeDocument/2006/relationships/image" Target="../media/image69.png"/><Relationship Id="rId30" Type="http://schemas.openxmlformats.org/officeDocument/2006/relationships/image" Target="../media/image72.png"/><Relationship Id="rId35" Type="http://schemas.openxmlformats.org/officeDocument/2006/relationships/image" Target="../media/image77.png"/><Relationship Id="rId43" Type="http://schemas.openxmlformats.org/officeDocument/2006/relationships/image" Target="../media/image85.png"/><Relationship Id="rId48" Type="http://schemas.openxmlformats.org/officeDocument/2006/relationships/image" Target="../media/image90.png"/><Relationship Id="rId56" Type="http://schemas.openxmlformats.org/officeDocument/2006/relationships/image" Target="../media/image98.png"/><Relationship Id="rId64" Type="http://schemas.openxmlformats.org/officeDocument/2006/relationships/image" Target="../media/image106.png"/><Relationship Id="rId69" Type="http://schemas.openxmlformats.org/officeDocument/2006/relationships/image" Target="../media/image111.png"/><Relationship Id="rId77" Type="http://schemas.openxmlformats.org/officeDocument/2006/relationships/image" Target="../media/image119.png"/><Relationship Id="rId8" Type="http://schemas.openxmlformats.org/officeDocument/2006/relationships/image" Target="../media/image50.png"/><Relationship Id="rId51" Type="http://schemas.openxmlformats.org/officeDocument/2006/relationships/image" Target="../media/image93.png"/><Relationship Id="rId72" Type="http://schemas.openxmlformats.org/officeDocument/2006/relationships/image" Target="../media/image114.png"/><Relationship Id="rId80" Type="http://schemas.openxmlformats.org/officeDocument/2006/relationships/image" Target="../media/image122.png"/><Relationship Id="rId3" Type="http://schemas.openxmlformats.org/officeDocument/2006/relationships/image" Target="../media/image45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5" Type="http://schemas.openxmlformats.org/officeDocument/2006/relationships/image" Target="../media/image67.png"/><Relationship Id="rId33" Type="http://schemas.openxmlformats.org/officeDocument/2006/relationships/image" Target="../media/image75.png"/><Relationship Id="rId38" Type="http://schemas.openxmlformats.org/officeDocument/2006/relationships/image" Target="../media/image80.png"/><Relationship Id="rId46" Type="http://schemas.openxmlformats.org/officeDocument/2006/relationships/image" Target="../media/image88.png"/><Relationship Id="rId59" Type="http://schemas.openxmlformats.org/officeDocument/2006/relationships/image" Target="../media/image101.png"/><Relationship Id="rId67" Type="http://schemas.openxmlformats.org/officeDocument/2006/relationships/image" Target="../media/image109.png"/><Relationship Id="rId20" Type="http://schemas.openxmlformats.org/officeDocument/2006/relationships/image" Target="../media/image62.png"/><Relationship Id="rId41" Type="http://schemas.openxmlformats.org/officeDocument/2006/relationships/image" Target="../media/image83.png"/><Relationship Id="rId54" Type="http://schemas.openxmlformats.org/officeDocument/2006/relationships/image" Target="../media/image96.png"/><Relationship Id="rId62" Type="http://schemas.openxmlformats.org/officeDocument/2006/relationships/image" Target="../media/image104.png"/><Relationship Id="rId70" Type="http://schemas.openxmlformats.org/officeDocument/2006/relationships/image" Target="../media/image112.png"/><Relationship Id="rId75" Type="http://schemas.openxmlformats.org/officeDocument/2006/relationships/image" Target="../media/image1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28" Type="http://schemas.openxmlformats.org/officeDocument/2006/relationships/image" Target="../media/image70.png"/><Relationship Id="rId36" Type="http://schemas.openxmlformats.org/officeDocument/2006/relationships/image" Target="../media/image78.png"/><Relationship Id="rId49" Type="http://schemas.openxmlformats.org/officeDocument/2006/relationships/image" Target="../media/image91.png"/><Relationship Id="rId57" Type="http://schemas.openxmlformats.org/officeDocument/2006/relationships/image" Target="../media/image99.png"/><Relationship Id="rId10" Type="http://schemas.openxmlformats.org/officeDocument/2006/relationships/image" Target="../media/image52.png"/><Relationship Id="rId31" Type="http://schemas.openxmlformats.org/officeDocument/2006/relationships/image" Target="../media/image73.png"/><Relationship Id="rId44" Type="http://schemas.openxmlformats.org/officeDocument/2006/relationships/image" Target="../media/image86.png"/><Relationship Id="rId52" Type="http://schemas.openxmlformats.org/officeDocument/2006/relationships/image" Target="../media/image94.png"/><Relationship Id="rId60" Type="http://schemas.openxmlformats.org/officeDocument/2006/relationships/image" Target="../media/image102.png"/><Relationship Id="rId65" Type="http://schemas.openxmlformats.org/officeDocument/2006/relationships/image" Target="../media/image107.png"/><Relationship Id="rId73" Type="http://schemas.openxmlformats.org/officeDocument/2006/relationships/image" Target="../media/image115.png"/><Relationship Id="rId78" Type="http://schemas.openxmlformats.org/officeDocument/2006/relationships/image" Target="../media/image120.png"/><Relationship Id="rId81" Type="http://schemas.openxmlformats.org/officeDocument/2006/relationships/image" Target="../media/image123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9" Type="http://schemas.openxmlformats.org/officeDocument/2006/relationships/image" Target="../media/image81.png"/><Relationship Id="rId34" Type="http://schemas.openxmlformats.org/officeDocument/2006/relationships/image" Target="../media/image76.png"/><Relationship Id="rId50" Type="http://schemas.openxmlformats.org/officeDocument/2006/relationships/image" Target="../media/image92.png"/><Relationship Id="rId55" Type="http://schemas.openxmlformats.org/officeDocument/2006/relationships/image" Target="../media/image97.png"/><Relationship Id="rId76" Type="http://schemas.openxmlformats.org/officeDocument/2006/relationships/image" Target="../media/image118.png"/><Relationship Id="rId7" Type="http://schemas.openxmlformats.org/officeDocument/2006/relationships/image" Target="../media/image49.png"/><Relationship Id="rId71" Type="http://schemas.openxmlformats.org/officeDocument/2006/relationships/image" Target="../media/image113.png"/><Relationship Id="rId2" Type="http://schemas.openxmlformats.org/officeDocument/2006/relationships/image" Target="../media/image44.png"/><Relationship Id="rId29" Type="http://schemas.openxmlformats.org/officeDocument/2006/relationships/image" Target="../media/image71.png"/><Relationship Id="rId24" Type="http://schemas.openxmlformats.org/officeDocument/2006/relationships/image" Target="../media/image66.png"/><Relationship Id="rId40" Type="http://schemas.openxmlformats.org/officeDocument/2006/relationships/image" Target="../media/image82.png"/><Relationship Id="rId45" Type="http://schemas.openxmlformats.org/officeDocument/2006/relationships/image" Target="../media/image87.png"/><Relationship Id="rId66" Type="http://schemas.openxmlformats.org/officeDocument/2006/relationships/image" Target="../media/image108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0" y="1566672"/>
              <a:ext cx="4655820" cy="109855"/>
            </a:xfrm>
            <a:custGeom>
              <a:avLst/>
              <a:gdLst/>
              <a:ahLst/>
              <a:cxnLst/>
              <a:rect l="l" t="t" r="r" b="b"/>
              <a:pathLst>
                <a:path w="4655820" h="109855">
                  <a:moveTo>
                    <a:pt x="465556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4655566" y="109727"/>
                  </a:lnTo>
                  <a:lnTo>
                    <a:pt x="4655566" y="0"/>
                  </a:lnTo>
                  <a:close/>
                </a:path>
              </a:pathLst>
            </a:custGeom>
            <a:solidFill>
              <a:srgbClr val="B652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600" y="1566672"/>
              <a:ext cx="7958455" cy="0"/>
            </a:xfrm>
            <a:custGeom>
              <a:avLst/>
              <a:gdLst/>
              <a:ahLst/>
              <a:cxnLst/>
              <a:rect l="l" t="t" r="r" b="b"/>
              <a:pathLst>
                <a:path w="7958455">
                  <a:moveTo>
                    <a:pt x="0" y="0"/>
                  </a:moveTo>
                  <a:lnTo>
                    <a:pt x="7958328" y="0"/>
                  </a:lnTo>
                </a:path>
              </a:pathLst>
            </a:custGeom>
            <a:ln w="9525">
              <a:solidFill>
                <a:srgbClr val="B652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600" y="6172200"/>
              <a:ext cx="7924800" cy="0"/>
            </a:xfrm>
            <a:custGeom>
              <a:avLst/>
              <a:gdLst/>
              <a:ahLst/>
              <a:cxnLst/>
              <a:rect l="l" t="t" r="r" b="b"/>
              <a:pathLst>
                <a:path w="7924800">
                  <a:moveTo>
                    <a:pt x="0" y="0"/>
                  </a:moveTo>
                  <a:lnTo>
                    <a:pt x="7924800" y="0"/>
                  </a:lnTo>
                </a:path>
              </a:pathLst>
            </a:custGeom>
            <a:ln w="3175">
              <a:solidFill>
                <a:srgbClr val="B652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2394204"/>
              <a:ext cx="4803775" cy="109855"/>
            </a:xfrm>
            <a:custGeom>
              <a:avLst/>
              <a:gdLst/>
              <a:ahLst/>
              <a:cxnLst/>
              <a:rect l="l" t="t" r="r" b="b"/>
              <a:pathLst>
                <a:path w="4803775" h="109855">
                  <a:moveTo>
                    <a:pt x="4803394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4803394" y="109727"/>
                  </a:lnTo>
                  <a:lnTo>
                    <a:pt x="4803394" y="0"/>
                  </a:lnTo>
                  <a:close/>
                </a:path>
              </a:pathLst>
            </a:custGeom>
            <a:solidFill>
              <a:srgbClr val="B652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685800" y="2394204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9525">
            <a:solidFill>
              <a:srgbClr val="B652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b="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b="0" spc="-10" dirty="0">
                <a:solidFill>
                  <a:srgbClr val="FFFFFF"/>
                </a:solidFill>
                <a:latin typeface="Verdana"/>
                <a:cs typeface="Verdana"/>
              </a:rPr>
              <a:t>Management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07794" y="3429380"/>
            <a:ext cx="65328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45" dirty="0">
                <a:latin typeface="Times New Roman"/>
                <a:cs typeface="Times New Roman"/>
              </a:rPr>
              <a:t>Project</a:t>
            </a:r>
            <a:r>
              <a:rPr sz="3200" b="1" spc="-1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Communication</a:t>
            </a:r>
            <a:r>
              <a:rPr sz="3200" b="1" spc="-13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Management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25374"/>
            <a:ext cx="508635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Learning</a:t>
            </a:r>
            <a:r>
              <a:rPr sz="5000" b="0" spc="-35" dirty="0">
                <a:latin typeface="Calibri"/>
                <a:cs typeface="Calibri"/>
              </a:rPr>
              <a:t> </a:t>
            </a:r>
            <a:r>
              <a:rPr sz="5000" b="0" spc="-10" dirty="0">
                <a:latin typeface="Calibri"/>
                <a:cs typeface="Calibri"/>
              </a:rPr>
              <a:t>Objectives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154938"/>
            <a:ext cx="7833995" cy="4544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2454275" indent="-273050">
              <a:lnSpc>
                <a:spcPct val="100000"/>
              </a:lnSpc>
              <a:spcBef>
                <a:spcPts val="10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Understand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importance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good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communications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projects.</a:t>
            </a:r>
            <a:endParaRPr sz="2600" dirty="0">
              <a:latin typeface="Constantia"/>
              <a:cs typeface="Constantia"/>
            </a:endParaRPr>
          </a:p>
          <a:p>
            <a:pPr marL="285115" marR="74295" indent="-273050">
              <a:lnSpc>
                <a:spcPct val="100000"/>
              </a:lnSpc>
              <a:spcBef>
                <a:spcPts val="62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Explain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elements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project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communications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planning,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including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how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create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communications management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plan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perform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stakeholder communications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analysis.</a:t>
            </a:r>
            <a:endParaRPr sz="2600" dirty="0">
              <a:latin typeface="Constantia"/>
              <a:cs typeface="Constantia"/>
            </a:endParaRPr>
          </a:p>
          <a:p>
            <a:pPr marL="285115" marR="5080" indent="-273050">
              <a:lnSpc>
                <a:spcPct val="100000"/>
              </a:lnSpc>
              <a:spcBef>
                <a:spcPts val="62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Describe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various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methods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distributing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project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information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advantages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disadvantages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of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each,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discuss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importance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addressing</a:t>
            </a:r>
            <a:r>
              <a:rPr sz="2600" spc="6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individual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needs,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calculate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the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number</a:t>
            </a:r>
            <a:r>
              <a:rPr sz="2600" spc="-1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channels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project.</a:t>
            </a:r>
            <a:endParaRPr sz="2600" dirty="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080082"/>
            <a:ext cx="817435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What</a:t>
            </a:r>
            <a:r>
              <a:rPr sz="5000" b="0" spc="-65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is</a:t>
            </a:r>
            <a:r>
              <a:rPr sz="5000" b="0" spc="-90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Project</a:t>
            </a:r>
            <a:r>
              <a:rPr sz="5000" b="0" spc="-65" dirty="0">
                <a:latin typeface="Calibri"/>
                <a:cs typeface="Calibri"/>
              </a:rPr>
              <a:t> </a:t>
            </a:r>
            <a:r>
              <a:rPr sz="5000" b="0" spc="-10" dirty="0">
                <a:latin typeface="Calibri"/>
                <a:cs typeface="Calibri"/>
              </a:rPr>
              <a:t>Communication</a:t>
            </a:r>
            <a:endParaRPr sz="5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9228" y="3247517"/>
            <a:ext cx="1609344" cy="13814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27178"/>
            <a:ext cx="448945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latin typeface="Calibri"/>
                <a:cs typeface="Calibri"/>
              </a:rPr>
              <a:t>A</a:t>
            </a:r>
            <a:r>
              <a:rPr sz="4500" b="0" spc="-45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Classic</a:t>
            </a:r>
            <a:r>
              <a:rPr sz="4500" b="0" spc="-30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Case</a:t>
            </a:r>
            <a:r>
              <a:rPr sz="4500" b="0" spc="-65" dirty="0">
                <a:latin typeface="Calibri"/>
                <a:cs typeface="Calibri"/>
              </a:rPr>
              <a:t> </a:t>
            </a:r>
            <a:r>
              <a:rPr sz="4500" b="0" spc="-25" dirty="0">
                <a:latin typeface="Calibri"/>
                <a:cs typeface="Calibri"/>
              </a:rPr>
              <a:t>of </a:t>
            </a:r>
            <a:r>
              <a:rPr sz="4500" b="0" spc="-10" dirty="0">
                <a:latin typeface="Calibri"/>
                <a:cs typeface="Calibri"/>
              </a:rPr>
              <a:t>Miscommunication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5940" y="1459004"/>
            <a:ext cx="8054975" cy="2408707"/>
          </a:xfrm>
          <a:prstGeom prst="rect">
            <a:avLst/>
          </a:prstGeom>
        </p:spPr>
        <p:txBody>
          <a:bodyPr vert="horz" wrap="square" lIns="0" tIns="251812" rIns="0" bIns="0" rtlCol="0">
            <a:spAutoFit/>
          </a:bodyPr>
          <a:lstStyle/>
          <a:p>
            <a:pPr marL="285115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onstantia"/>
                <a:cs typeface="Constantia"/>
              </a:rPr>
              <a:t>In</a:t>
            </a:r>
            <a:r>
              <a:rPr sz="2800" spc="-11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Center</a:t>
            </a:r>
            <a:r>
              <a:rPr sz="2800" spc="-110" dirty="0">
                <a:latin typeface="Constantia"/>
                <a:cs typeface="Constantia"/>
              </a:rPr>
              <a:t> </a:t>
            </a:r>
            <a:r>
              <a:rPr sz="2800" spc="-30" dirty="0">
                <a:latin typeface="Constantia"/>
                <a:cs typeface="Constantia"/>
              </a:rPr>
              <a:t>Harbor,</a:t>
            </a:r>
            <a:r>
              <a:rPr sz="2800" spc="-40" dirty="0">
                <a:latin typeface="Constantia"/>
                <a:cs typeface="Constantia"/>
              </a:rPr>
              <a:t> </a:t>
            </a:r>
            <a:r>
              <a:rPr sz="2800" spc="-20" dirty="0" smtClean="0">
                <a:latin typeface="Constantia"/>
                <a:cs typeface="Constantia"/>
              </a:rPr>
              <a:t>when </a:t>
            </a:r>
            <a:r>
              <a:rPr sz="2800" spc="-45" dirty="0">
                <a:latin typeface="Constantia"/>
                <a:cs typeface="Constantia"/>
              </a:rPr>
              <a:t>Walter</a:t>
            </a:r>
            <a:r>
              <a:rPr sz="2800" spc="-105" dirty="0">
                <a:latin typeface="Constantia"/>
                <a:cs typeface="Constantia"/>
              </a:rPr>
              <a:t> </a:t>
            </a:r>
            <a:r>
              <a:rPr sz="2800" spc="-25" dirty="0">
                <a:latin typeface="Constantia"/>
                <a:cs typeface="Constantia"/>
              </a:rPr>
              <a:t>Cronkite</a:t>
            </a:r>
            <a:r>
              <a:rPr sz="2800" spc="-12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steered</a:t>
            </a:r>
            <a:r>
              <a:rPr sz="2800" spc="-6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his</a:t>
            </a:r>
            <a:r>
              <a:rPr sz="2800" spc="-10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boat</a:t>
            </a:r>
            <a:r>
              <a:rPr sz="2800" spc="-8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into</a:t>
            </a:r>
            <a:r>
              <a:rPr sz="2800" spc="-13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port.</a:t>
            </a:r>
            <a:r>
              <a:rPr sz="2800" spc="-9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The</a:t>
            </a:r>
            <a:r>
              <a:rPr sz="2800" spc="-15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avid</a:t>
            </a:r>
            <a:r>
              <a:rPr sz="2800" spc="-9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sailor </a:t>
            </a:r>
            <a:r>
              <a:rPr sz="2800" dirty="0">
                <a:latin typeface="Constantia"/>
                <a:cs typeface="Constantia"/>
              </a:rPr>
              <a:t>was</a:t>
            </a:r>
            <a:r>
              <a:rPr sz="2800" spc="-12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amused</a:t>
            </a:r>
            <a:r>
              <a:rPr sz="2800" spc="-5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to</a:t>
            </a:r>
            <a:r>
              <a:rPr sz="2800" spc="-12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see</a:t>
            </a:r>
            <a:r>
              <a:rPr sz="2800" spc="-7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in</a:t>
            </a:r>
            <a:r>
              <a:rPr sz="2800" spc="-8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the</a:t>
            </a:r>
            <a:r>
              <a:rPr sz="2800" spc="-15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distance</a:t>
            </a:r>
            <a:r>
              <a:rPr sz="2800" spc="-12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a</a:t>
            </a:r>
            <a:r>
              <a:rPr sz="2800" spc="-12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small</a:t>
            </a:r>
            <a:r>
              <a:rPr sz="2800" spc="-90" dirty="0">
                <a:latin typeface="Constantia"/>
                <a:cs typeface="Constantia"/>
              </a:rPr>
              <a:t> </a:t>
            </a:r>
            <a:r>
              <a:rPr sz="2800" spc="-25" dirty="0">
                <a:latin typeface="Constantia"/>
                <a:cs typeface="Constantia"/>
              </a:rPr>
              <a:t>crowd</a:t>
            </a:r>
            <a:r>
              <a:rPr sz="2800" spc="-5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on</a:t>
            </a:r>
            <a:r>
              <a:rPr sz="2800" spc="-10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shore </a:t>
            </a:r>
            <a:r>
              <a:rPr sz="2800" dirty="0">
                <a:latin typeface="Constantia"/>
                <a:cs typeface="Constantia"/>
              </a:rPr>
              <a:t>waving</a:t>
            </a:r>
            <a:r>
              <a:rPr sz="2800" spc="-15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their</a:t>
            </a:r>
            <a:r>
              <a:rPr sz="2800" spc="-15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arms</a:t>
            </a:r>
            <a:r>
              <a:rPr sz="2800" spc="-110" dirty="0">
                <a:latin typeface="Constantia"/>
                <a:cs typeface="Constantia"/>
              </a:rPr>
              <a:t> </a:t>
            </a:r>
            <a:r>
              <a:rPr sz="2800" spc="-30" dirty="0">
                <a:latin typeface="Constantia"/>
                <a:cs typeface="Constantia"/>
              </a:rPr>
              <a:t>to</a:t>
            </a:r>
            <a:r>
              <a:rPr sz="2800" spc="-12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greet</a:t>
            </a:r>
            <a:r>
              <a:rPr sz="2800" spc="-8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him.</a:t>
            </a:r>
            <a:r>
              <a:rPr sz="2800" spc="-50" dirty="0">
                <a:latin typeface="Constantia"/>
                <a:cs typeface="Constantia"/>
              </a:rPr>
              <a:t> </a:t>
            </a:r>
            <a:r>
              <a:rPr sz="2800" spc="-45" dirty="0">
                <a:latin typeface="Constantia"/>
                <a:cs typeface="Constantia"/>
              </a:rPr>
              <a:t>He</a:t>
            </a:r>
            <a:r>
              <a:rPr sz="2800" spc="-10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could</a:t>
            </a:r>
            <a:r>
              <a:rPr sz="2800" spc="-2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barely</a:t>
            </a:r>
            <a:r>
              <a:rPr sz="2800" spc="-90" dirty="0">
                <a:latin typeface="Constantia"/>
                <a:cs typeface="Constantia"/>
              </a:rPr>
              <a:t> </a:t>
            </a:r>
            <a:r>
              <a:rPr sz="2800" spc="-20" dirty="0">
                <a:latin typeface="Constantia"/>
                <a:cs typeface="Constantia"/>
              </a:rPr>
              <a:t>make</a:t>
            </a:r>
            <a:r>
              <a:rPr sz="2800" spc="-130" dirty="0">
                <a:latin typeface="Constantia"/>
                <a:cs typeface="Constantia"/>
              </a:rPr>
              <a:t> </a:t>
            </a:r>
            <a:r>
              <a:rPr sz="2800" spc="-25" dirty="0">
                <a:latin typeface="Constantia"/>
                <a:cs typeface="Constantia"/>
              </a:rPr>
              <a:t>out </a:t>
            </a:r>
            <a:r>
              <a:rPr sz="2800" spc="-10" dirty="0">
                <a:latin typeface="Constantia"/>
                <a:cs typeface="Constantia"/>
              </a:rPr>
              <a:t>their</a:t>
            </a:r>
            <a:r>
              <a:rPr sz="2800" spc="-15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excited</a:t>
            </a:r>
            <a:r>
              <a:rPr sz="2800" spc="-8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shouts:</a:t>
            </a:r>
            <a:r>
              <a:rPr sz="2800" spc="-50" dirty="0">
                <a:latin typeface="Constantia"/>
                <a:cs typeface="Constantia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onstantia"/>
                <a:cs typeface="Constantia"/>
              </a:rPr>
              <a:t>“Hello</a:t>
            </a:r>
            <a:r>
              <a:rPr sz="2800" spc="-10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800" spc="-60" dirty="0">
                <a:solidFill>
                  <a:srgbClr val="FF0000"/>
                </a:solidFill>
                <a:latin typeface="Constantia"/>
                <a:cs typeface="Constantia"/>
              </a:rPr>
              <a:t>Walter,</a:t>
            </a:r>
            <a:r>
              <a:rPr sz="2800" spc="-1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onstantia"/>
                <a:cs typeface="Constantia"/>
              </a:rPr>
              <a:t>Hello</a:t>
            </a:r>
            <a:r>
              <a:rPr sz="2800" spc="-10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nstantia"/>
                <a:cs typeface="Constantia"/>
              </a:rPr>
              <a:t>Walter!”</a:t>
            </a:r>
            <a:endParaRPr sz="2800" dirty="0">
              <a:latin typeface="Constantia"/>
              <a:cs typeface="Constant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4011" y="4543044"/>
            <a:ext cx="2857500" cy="14767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103378"/>
            <a:ext cx="448945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latin typeface="Calibri"/>
                <a:cs typeface="Calibri"/>
              </a:rPr>
              <a:t>A</a:t>
            </a:r>
            <a:r>
              <a:rPr sz="4500" b="0" spc="-45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Classic</a:t>
            </a:r>
            <a:r>
              <a:rPr sz="4500" b="0" spc="-45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Case</a:t>
            </a:r>
            <a:r>
              <a:rPr sz="4500" b="0" spc="-75" dirty="0">
                <a:latin typeface="Calibri"/>
                <a:cs typeface="Calibri"/>
              </a:rPr>
              <a:t> </a:t>
            </a:r>
            <a:r>
              <a:rPr sz="4500" b="0" spc="-25" dirty="0">
                <a:latin typeface="Calibri"/>
                <a:cs typeface="Calibri"/>
              </a:rPr>
              <a:t>of </a:t>
            </a:r>
            <a:r>
              <a:rPr sz="4500" b="0" spc="-10" dirty="0">
                <a:latin typeface="Calibri"/>
                <a:cs typeface="Calibri"/>
              </a:rPr>
              <a:t>Miscommunication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0040" y="1690242"/>
            <a:ext cx="707961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087745" algn="l"/>
              </a:tabLst>
            </a:pP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As</a:t>
            </a:r>
            <a:r>
              <a:rPr sz="24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his</a:t>
            </a:r>
            <a:r>
              <a:rPr sz="24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boat</a:t>
            </a:r>
            <a:r>
              <a:rPr sz="24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came</a:t>
            </a:r>
            <a:r>
              <a:rPr sz="24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onstantia"/>
                <a:cs typeface="Constantia"/>
              </a:rPr>
              <a:t>closer,</a:t>
            </a:r>
            <a:r>
              <a:rPr sz="2400" spc="-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4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Constantia"/>
                <a:cs typeface="Constantia"/>
              </a:rPr>
              <a:t>crowd</a:t>
            </a:r>
            <a:r>
              <a:rPr sz="24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grew</a:t>
            </a:r>
            <a:r>
              <a:rPr sz="24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Constantia"/>
                <a:cs typeface="Constantia"/>
              </a:rPr>
              <a:t>larger,</a:t>
            </a:r>
            <a:r>
              <a:rPr sz="24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still yelling.</a:t>
            </a:r>
            <a:r>
              <a:rPr sz="24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Pleased</a:t>
            </a:r>
            <a:r>
              <a:rPr sz="24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at</a:t>
            </a:r>
            <a:r>
              <a:rPr sz="24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4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reception,</a:t>
            </a:r>
            <a:r>
              <a:rPr sz="24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Cronkite</a:t>
            </a:r>
            <a:r>
              <a:rPr sz="24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tipped</a:t>
            </a:r>
            <a:r>
              <a:rPr sz="24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onstantia"/>
                <a:cs typeface="Constantia"/>
              </a:rPr>
              <a:t>his </a:t>
            </a: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white</a:t>
            </a:r>
            <a:r>
              <a:rPr sz="24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captain's</a:t>
            </a:r>
            <a:r>
              <a:rPr sz="24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hat,</a:t>
            </a:r>
            <a:r>
              <a:rPr sz="24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waved</a:t>
            </a:r>
            <a:r>
              <a:rPr sz="24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back,</a:t>
            </a:r>
            <a:r>
              <a:rPr sz="24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even</a:t>
            </a:r>
            <a:r>
              <a:rPr sz="24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took</a:t>
            </a:r>
            <a:r>
              <a:rPr sz="24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4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Constantia"/>
                <a:cs typeface="Constantia"/>
              </a:rPr>
              <a:t>bow.</a:t>
            </a:r>
            <a:r>
              <a:rPr sz="24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onstantia"/>
                <a:cs typeface="Constantia"/>
              </a:rPr>
              <a:t>But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before</a:t>
            </a:r>
            <a:r>
              <a:rPr sz="24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reaching</a:t>
            </a:r>
            <a:r>
              <a:rPr sz="24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dockside,</a:t>
            </a:r>
            <a:r>
              <a:rPr sz="24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Cronkite's</a:t>
            </a:r>
            <a:r>
              <a:rPr sz="24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boat</a:t>
            </a:r>
            <a:r>
              <a:rPr sz="24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abruptly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jammed</a:t>
            </a:r>
            <a:r>
              <a:rPr sz="24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aground.</a:t>
            </a:r>
            <a:r>
              <a:rPr sz="24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4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onstantia"/>
                <a:cs typeface="Constantia"/>
              </a:rPr>
              <a:t>crowd</a:t>
            </a:r>
            <a:r>
              <a:rPr sz="24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stood</a:t>
            </a:r>
            <a:r>
              <a:rPr sz="24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silent.</a:t>
            </a:r>
            <a:r>
              <a:rPr sz="24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4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veteran </a:t>
            </a: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suddenly</a:t>
            </a:r>
            <a:r>
              <a:rPr sz="24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realized</a:t>
            </a:r>
            <a:r>
              <a:rPr sz="24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what</a:t>
            </a:r>
            <a:r>
              <a:rPr sz="24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they'd</a:t>
            </a:r>
            <a:r>
              <a:rPr sz="2400" spc="-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been</a:t>
            </a:r>
            <a:r>
              <a:rPr sz="24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shouting: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400" spc="-20" dirty="0">
                <a:solidFill>
                  <a:srgbClr val="FF0000"/>
                </a:solidFill>
                <a:latin typeface="Constantia"/>
                <a:cs typeface="Constantia"/>
              </a:rPr>
              <a:t>“Low </a:t>
            </a:r>
            <a:r>
              <a:rPr sz="2400" spc="-30" dirty="0">
                <a:solidFill>
                  <a:srgbClr val="FF0000"/>
                </a:solidFill>
                <a:latin typeface="Constantia"/>
                <a:cs typeface="Constantia"/>
              </a:rPr>
              <a:t>water,</a:t>
            </a:r>
            <a:r>
              <a:rPr sz="2400" spc="-11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onstantia"/>
                <a:cs typeface="Constantia"/>
              </a:rPr>
              <a:t>low</a:t>
            </a:r>
            <a:r>
              <a:rPr sz="2400" spc="-13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water!”</a:t>
            </a:r>
            <a:endParaRPr sz="2400">
              <a:latin typeface="Constantia"/>
              <a:cs typeface="Constant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4011" y="4648200"/>
            <a:ext cx="2857500" cy="14767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825" y="211328"/>
            <a:ext cx="55968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latin typeface="Calibri"/>
                <a:cs typeface="Calibri"/>
              </a:rPr>
              <a:t>Analysis</a:t>
            </a:r>
            <a:r>
              <a:rPr sz="4500" b="0" spc="-80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of</a:t>
            </a:r>
            <a:r>
              <a:rPr sz="4500" b="0" spc="-70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Flawed Communication</a:t>
            </a:r>
            <a:r>
              <a:rPr sz="4500" b="0" spc="-215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Process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825" y="211328"/>
            <a:ext cx="55968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latin typeface="Calibri"/>
                <a:cs typeface="Calibri"/>
              </a:rPr>
              <a:t>Analysis</a:t>
            </a:r>
            <a:r>
              <a:rPr sz="4500" b="0" spc="-80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of</a:t>
            </a:r>
            <a:r>
              <a:rPr sz="4500" b="0" spc="-70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Flawed Communication</a:t>
            </a:r>
            <a:r>
              <a:rPr sz="4500" b="0" spc="-215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Process</a:t>
            </a:r>
            <a:endParaRPr sz="4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2461" y="2589529"/>
            <a:ext cx="2006600" cy="2159000"/>
            <a:chOff x="902461" y="2589529"/>
            <a:chExt cx="2006600" cy="2159000"/>
          </a:xfrm>
        </p:grpSpPr>
        <p:sp>
          <p:nvSpPr>
            <p:cNvPr id="4" name="object 4"/>
            <p:cNvSpPr/>
            <p:nvPr/>
          </p:nvSpPr>
          <p:spPr>
            <a:xfrm>
              <a:off x="915161" y="2602229"/>
              <a:ext cx="1981200" cy="2133600"/>
            </a:xfrm>
            <a:custGeom>
              <a:avLst/>
              <a:gdLst/>
              <a:ahLst/>
              <a:cxnLst/>
              <a:rect l="l" t="t" r="r" b="b"/>
              <a:pathLst>
                <a:path w="1981200" h="2133600">
                  <a:moveTo>
                    <a:pt x="1320800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1320800" y="2133600"/>
                  </a:lnTo>
                  <a:lnTo>
                    <a:pt x="1981200" y="1066800"/>
                  </a:lnTo>
                  <a:lnTo>
                    <a:pt x="13208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2602229"/>
              <a:ext cx="1981200" cy="2133600"/>
            </a:xfrm>
            <a:custGeom>
              <a:avLst/>
              <a:gdLst/>
              <a:ahLst/>
              <a:cxnLst/>
              <a:rect l="l" t="t" r="r" b="b"/>
              <a:pathLst>
                <a:path w="1981200" h="2133600">
                  <a:moveTo>
                    <a:pt x="0" y="0"/>
                  </a:moveTo>
                  <a:lnTo>
                    <a:pt x="1320800" y="0"/>
                  </a:lnTo>
                  <a:lnTo>
                    <a:pt x="1981200" y="1066800"/>
                  </a:lnTo>
                  <a:lnTo>
                    <a:pt x="13208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03503" y="2630170"/>
            <a:ext cx="87185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Sender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has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idea</a:t>
            </a:r>
            <a:endParaRPr sz="2400">
              <a:latin typeface="Times New Roman"/>
              <a:cs typeface="Times New Roman"/>
            </a:endParaRPr>
          </a:p>
          <a:p>
            <a:pPr marL="12700" marR="55244">
              <a:lnSpc>
                <a:spcPct val="100000"/>
              </a:lnSpc>
              <a:spcBef>
                <a:spcPts val="1440"/>
              </a:spcBef>
            </a:pPr>
            <a:r>
              <a:rPr sz="2400" i="1" spc="-20" dirty="0">
                <a:solidFill>
                  <a:srgbClr val="DBF5F8"/>
                </a:solidFill>
                <a:latin typeface="Times New Roman"/>
                <a:cs typeface="Times New Roman"/>
              </a:rPr>
              <a:t>Warn </a:t>
            </a:r>
            <a:r>
              <a:rPr sz="2400" i="1" spc="-10" dirty="0">
                <a:solidFill>
                  <a:srgbClr val="DBF5F8"/>
                </a:solidFill>
                <a:latin typeface="Times New Roman"/>
                <a:cs typeface="Times New Roman"/>
              </a:rPr>
              <a:t>boater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825" y="211328"/>
            <a:ext cx="55968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latin typeface="Calibri"/>
                <a:cs typeface="Calibri"/>
              </a:rPr>
              <a:t>Analysis</a:t>
            </a:r>
            <a:r>
              <a:rPr sz="4500" b="0" spc="-80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of</a:t>
            </a:r>
            <a:r>
              <a:rPr sz="4500" b="0" spc="-70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Flawed Communication</a:t>
            </a:r>
            <a:r>
              <a:rPr sz="4500" b="0" spc="-215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Process</a:t>
            </a:r>
            <a:endParaRPr sz="4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2461" y="2589529"/>
            <a:ext cx="1831339" cy="1996439"/>
            <a:chOff x="902461" y="2589529"/>
            <a:chExt cx="1831339" cy="1996439"/>
          </a:xfrm>
        </p:grpSpPr>
        <p:sp>
          <p:nvSpPr>
            <p:cNvPr id="4" name="object 4"/>
            <p:cNvSpPr/>
            <p:nvPr/>
          </p:nvSpPr>
          <p:spPr>
            <a:xfrm>
              <a:off x="91516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39" h="1971039">
                  <a:moveTo>
                    <a:pt x="1203960" y="0"/>
                  </a:moveTo>
                  <a:lnTo>
                    <a:pt x="0" y="0"/>
                  </a:lnTo>
                  <a:lnTo>
                    <a:pt x="0" y="1970532"/>
                  </a:lnTo>
                  <a:lnTo>
                    <a:pt x="1203960" y="1970532"/>
                  </a:lnTo>
                  <a:lnTo>
                    <a:pt x="1805939" y="985266"/>
                  </a:lnTo>
                  <a:lnTo>
                    <a:pt x="120396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39" h="1971039">
                  <a:moveTo>
                    <a:pt x="0" y="0"/>
                  </a:moveTo>
                  <a:lnTo>
                    <a:pt x="1203960" y="0"/>
                  </a:lnTo>
                  <a:lnTo>
                    <a:pt x="1805939" y="985266"/>
                  </a:lnTo>
                  <a:lnTo>
                    <a:pt x="1203960" y="1970532"/>
                  </a:lnTo>
                  <a:lnTo>
                    <a:pt x="0" y="19705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03503" y="2630170"/>
            <a:ext cx="87185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Sender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has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idea</a:t>
            </a:r>
            <a:endParaRPr sz="2400">
              <a:latin typeface="Times New Roman"/>
              <a:cs typeface="Times New Roman"/>
            </a:endParaRPr>
          </a:p>
          <a:p>
            <a:pPr marL="12700" marR="55244">
              <a:lnSpc>
                <a:spcPct val="100000"/>
              </a:lnSpc>
              <a:spcBef>
                <a:spcPts val="1440"/>
              </a:spcBef>
            </a:pPr>
            <a:r>
              <a:rPr sz="2400" i="1" spc="-20" dirty="0">
                <a:solidFill>
                  <a:srgbClr val="DBF5F8"/>
                </a:solidFill>
                <a:latin typeface="Times New Roman"/>
                <a:cs typeface="Times New Roman"/>
              </a:rPr>
              <a:t>Warn </a:t>
            </a:r>
            <a:r>
              <a:rPr sz="2400" i="1" spc="-10" dirty="0">
                <a:solidFill>
                  <a:srgbClr val="DBF5F8"/>
                </a:solidFill>
                <a:latin typeface="Times New Roman"/>
                <a:cs typeface="Times New Roman"/>
              </a:rPr>
              <a:t>boater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59861" y="2589529"/>
            <a:ext cx="1831339" cy="1996439"/>
            <a:chOff x="2959861" y="2589529"/>
            <a:chExt cx="1831339" cy="1996439"/>
          </a:xfrm>
        </p:grpSpPr>
        <p:sp>
          <p:nvSpPr>
            <p:cNvPr id="8" name="object 8"/>
            <p:cNvSpPr/>
            <p:nvPr/>
          </p:nvSpPr>
          <p:spPr>
            <a:xfrm>
              <a:off x="297256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39" h="1971039">
                  <a:moveTo>
                    <a:pt x="1203960" y="0"/>
                  </a:moveTo>
                  <a:lnTo>
                    <a:pt x="0" y="0"/>
                  </a:lnTo>
                  <a:lnTo>
                    <a:pt x="0" y="1970532"/>
                  </a:lnTo>
                  <a:lnTo>
                    <a:pt x="1203960" y="1970532"/>
                  </a:lnTo>
                  <a:lnTo>
                    <a:pt x="1805939" y="985266"/>
                  </a:lnTo>
                  <a:lnTo>
                    <a:pt x="120396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256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39" h="1971039">
                  <a:moveTo>
                    <a:pt x="0" y="0"/>
                  </a:moveTo>
                  <a:lnTo>
                    <a:pt x="1203960" y="0"/>
                  </a:lnTo>
                  <a:lnTo>
                    <a:pt x="1805939" y="985266"/>
                  </a:lnTo>
                  <a:lnTo>
                    <a:pt x="1203960" y="1970532"/>
                  </a:lnTo>
                  <a:lnTo>
                    <a:pt x="0" y="19705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61207" y="2630170"/>
            <a:ext cx="105664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Sender encodes message</a:t>
            </a:r>
            <a:endParaRPr sz="2400">
              <a:latin typeface="Times New Roman"/>
              <a:cs typeface="Times New Roman"/>
            </a:endParaRPr>
          </a:p>
          <a:p>
            <a:pPr marL="12700" marR="69850">
              <a:lnSpc>
                <a:spcPct val="100000"/>
              </a:lnSpc>
              <a:spcBef>
                <a:spcPts val="1440"/>
              </a:spcBef>
            </a:pPr>
            <a:r>
              <a:rPr sz="2400" i="1" spc="-20" dirty="0">
                <a:solidFill>
                  <a:srgbClr val="DBF5F8"/>
                </a:solidFill>
                <a:latin typeface="Times New Roman"/>
                <a:cs typeface="Times New Roman"/>
              </a:rPr>
              <a:t>“Low </a:t>
            </a:r>
            <a:r>
              <a:rPr sz="2400" i="1" spc="-10" dirty="0">
                <a:solidFill>
                  <a:srgbClr val="DBF5F8"/>
                </a:solidFill>
                <a:latin typeface="Times New Roman"/>
                <a:cs typeface="Times New Roman"/>
              </a:rPr>
              <a:t>water!”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825" y="211328"/>
            <a:ext cx="55968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latin typeface="Calibri"/>
                <a:cs typeface="Calibri"/>
              </a:rPr>
              <a:t>Analysis</a:t>
            </a:r>
            <a:r>
              <a:rPr sz="4500" b="0" spc="-80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of</a:t>
            </a:r>
            <a:r>
              <a:rPr sz="4500" b="0" spc="-70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Flawed Communication</a:t>
            </a:r>
            <a:r>
              <a:rPr sz="4500" b="0" spc="-215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Process</a:t>
            </a:r>
            <a:endParaRPr sz="4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2461" y="2589529"/>
            <a:ext cx="1831339" cy="1996439"/>
            <a:chOff x="902461" y="2589529"/>
            <a:chExt cx="1831339" cy="1996439"/>
          </a:xfrm>
        </p:grpSpPr>
        <p:sp>
          <p:nvSpPr>
            <p:cNvPr id="4" name="object 4"/>
            <p:cNvSpPr/>
            <p:nvPr/>
          </p:nvSpPr>
          <p:spPr>
            <a:xfrm>
              <a:off x="91516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39" h="1971039">
                  <a:moveTo>
                    <a:pt x="1203960" y="0"/>
                  </a:moveTo>
                  <a:lnTo>
                    <a:pt x="0" y="0"/>
                  </a:lnTo>
                  <a:lnTo>
                    <a:pt x="0" y="1970532"/>
                  </a:lnTo>
                  <a:lnTo>
                    <a:pt x="1203960" y="1970532"/>
                  </a:lnTo>
                  <a:lnTo>
                    <a:pt x="1805939" y="985266"/>
                  </a:lnTo>
                  <a:lnTo>
                    <a:pt x="120396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39" h="1971039">
                  <a:moveTo>
                    <a:pt x="0" y="0"/>
                  </a:moveTo>
                  <a:lnTo>
                    <a:pt x="1203960" y="0"/>
                  </a:lnTo>
                  <a:lnTo>
                    <a:pt x="1805939" y="985266"/>
                  </a:lnTo>
                  <a:lnTo>
                    <a:pt x="1203960" y="1970532"/>
                  </a:lnTo>
                  <a:lnTo>
                    <a:pt x="0" y="19705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03503" y="2630170"/>
            <a:ext cx="87185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Sender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has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idea</a:t>
            </a:r>
            <a:endParaRPr sz="2400">
              <a:latin typeface="Times New Roman"/>
              <a:cs typeface="Times New Roman"/>
            </a:endParaRPr>
          </a:p>
          <a:p>
            <a:pPr marL="12700" marR="55244">
              <a:lnSpc>
                <a:spcPct val="100000"/>
              </a:lnSpc>
              <a:spcBef>
                <a:spcPts val="1440"/>
              </a:spcBef>
            </a:pPr>
            <a:r>
              <a:rPr sz="2400" i="1" spc="-20" dirty="0">
                <a:solidFill>
                  <a:srgbClr val="DBF5F8"/>
                </a:solidFill>
                <a:latin typeface="Times New Roman"/>
                <a:cs typeface="Times New Roman"/>
              </a:rPr>
              <a:t>Warn </a:t>
            </a:r>
            <a:r>
              <a:rPr sz="2400" i="1" spc="-10" dirty="0">
                <a:solidFill>
                  <a:srgbClr val="DBF5F8"/>
                </a:solidFill>
                <a:latin typeface="Times New Roman"/>
                <a:cs typeface="Times New Roman"/>
              </a:rPr>
              <a:t>boater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59861" y="2589529"/>
            <a:ext cx="1831339" cy="1996439"/>
            <a:chOff x="2959861" y="2589529"/>
            <a:chExt cx="1831339" cy="1996439"/>
          </a:xfrm>
        </p:grpSpPr>
        <p:sp>
          <p:nvSpPr>
            <p:cNvPr id="8" name="object 8"/>
            <p:cNvSpPr/>
            <p:nvPr/>
          </p:nvSpPr>
          <p:spPr>
            <a:xfrm>
              <a:off x="297256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39" h="1971039">
                  <a:moveTo>
                    <a:pt x="1203960" y="0"/>
                  </a:moveTo>
                  <a:lnTo>
                    <a:pt x="0" y="0"/>
                  </a:lnTo>
                  <a:lnTo>
                    <a:pt x="0" y="1970532"/>
                  </a:lnTo>
                  <a:lnTo>
                    <a:pt x="1203960" y="1970532"/>
                  </a:lnTo>
                  <a:lnTo>
                    <a:pt x="1805939" y="985266"/>
                  </a:lnTo>
                  <a:lnTo>
                    <a:pt x="120396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256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39" h="1971039">
                  <a:moveTo>
                    <a:pt x="0" y="0"/>
                  </a:moveTo>
                  <a:lnTo>
                    <a:pt x="1203960" y="0"/>
                  </a:lnTo>
                  <a:lnTo>
                    <a:pt x="1805939" y="985266"/>
                  </a:lnTo>
                  <a:lnTo>
                    <a:pt x="1203960" y="1970532"/>
                  </a:lnTo>
                  <a:lnTo>
                    <a:pt x="0" y="19705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61207" y="2630170"/>
            <a:ext cx="105664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Sender encodes message</a:t>
            </a:r>
            <a:endParaRPr sz="2400">
              <a:latin typeface="Times New Roman"/>
              <a:cs typeface="Times New Roman"/>
            </a:endParaRPr>
          </a:p>
          <a:p>
            <a:pPr marL="12700" marR="69850">
              <a:lnSpc>
                <a:spcPct val="100000"/>
              </a:lnSpc>
              <a:spcBef>
                <a:spcPts val="1440"/>
              </a:spcBef>
            </a:pPr>
            <a:r>
              <a:rPr sz="2400" i="1" spc="-20" dirty="0">
                <a:solidFill>
                  <a:srgbClr val="DBF5F8"/>
                </a:solidFill>
                <a:latin typeface="Times New Roman"/>
                <a:cs typeface="Times New Roman"/>
              </a:rPr>
              <a:t>“Low </a:t>
            </a:r>
            <a:r>
              <a:rPr sz="2400" i="1" spc="-10" dirty="0">
                <a:solidFill>
                  <a:srgbClr val="DBF5F8"/>
                </a:solidFill>
                <a:latin typeface="Times New Roman"/>
                <a:cs typeface="Times New Roman"/>
              </a:rPr>
              <a:t>water!”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15738" y="2589529"/>
            <a:ext cx="1831339" cy="1996439"/>
            <a:chOff x="5015738" y="2589529"/>
            <a:chExt cx="1831339" cy="1996439"/>
          </a:xfrm>
        </p:grpSpPr>
        <p:sp>
          <p:nvSpPr>
            <p:cNvPr id="12" name="object 12"/>
            <p:cNvSpPr/>
            <p:nvPr/>
          </p:nvSpPr>
          <p:spPr>
            <a:xfrm>
              <a:off x="5028438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40" h="1971039">
                  <a:moveTo>
                    <a:pt x="1203960" y="0"/>
                  </a:moveTo>
                  <a:lnTo>
                    <a:pt x="0" y="0"/>
                  </a:lnTo>
                  <a:lnTo>
                    <a:pt x="0" y="1970532"/>
                  </a:lnTo>
                  <a:lnTo>
                    <a:pt x="1203960" y="1970532"/>
                  </a:lnTo>
                  <a:lnTo>
                    <a:pt x="1805939" y="985266"/>
                  </a:lnTo>
                  <a:lnTo>
                    <a:pt x="120396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28438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40" h="1971039">
                  <a:moveTo>
                    <a:pt x="0" y="0"/>
                  </a:moveTo>
                  <a:lnTo>
                    <a:pt x="1203960" y="0"/>
                  </a:lnTo>
                  <a:lnTo>
                    <a:pt x="1805939" y="985266"/>
                  </a:lnTo>
                  <a:lnTo>
                    <a:pt x="1203960" y="1970532"/>
                  </a:lnTo>
                  <a:lnTo>
                    <a:pt x="0" y="19705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17338" y="2630170"/>
            <a:ext cx="111188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69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 carries message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440"/>
              </a:spcBef>
            </a:pPr>
            <a:r>
              <a:rPr sz="2400" i="1" spc="-10" dirty="0">
                <a:solidFill>
                  <a:srgbClr val="DBF5F8"/>
                </a:solidFill>
                <a:latin typeface="Times New Roman"/>
                <a:cs typeface="Times New Roman"/>
              </a:rPr>
              <a:t>Message distorted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825" y="211328"/>
            <a:ext cx="55968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latin typeface="Calibri"/>
                <a:cs typeface="Calibri"/>
              </a:rPr>
              <a:t>Analysis</a:t>
            </a:r>
            <a:r>
              <a:rPr sz="4500" b="0" spc="-80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of</a:t>
            </a:r>
            <a:r>
              <a:rPr sz="4500" b="0" spc="-70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Flawed Communication</a:t>
            </a:r>
            <a:r>
              <a:rPr sz="4500" b="0" spc="-215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Process</a:t>
            </a:r>
            <a:endParaRPr sz="4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2461" y="2589529"/>
            <a:ext cx="1831339" cy="1996439"/>
            <a:chOff x="902461" y="2589529"/>
            <a:chExt cx="1831339" cy="1996439"/>
          </a:xfrm>
        </p:grpSpPr>
        <p:sp>
          <p:nvSpPr>
            <p:cNvPr id="4" name="object 4"/>
            <p:cNvSpPr/>
            <p:nvPr/>
          </p:nvSpPr>
          <p:spPr>
            <a:xfrm>
              <a:off x="91516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39" h="1971039">
                  <a:moveTo>
                    <a:pt x="1203960" y="0"/>
                  </a:moveTo>
                  <a:lnTo>
                    <a:pt x="0" y="0"/>
                  </a:lnTo>
                  <a:lnTo>
                    <a:pt x="0" y="1970532"/>
                  </a:lnTo>
                  <a:lnTo>
                    <a:pt x="1203960" y="1970532"/>
                  </a:lnTo>
                  <a:lnTo>
                    <a:pt x="1805939" y="985266"/>
                  </a:lnTo>
                  <a:lnTo>
                    <a:pt x="120396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39" h="1971039">
                  <a:moveTo>
                    <a:pt x="0" y="0"/>
                  </a:moveTo>
                  <a:lnTo>
                    <a:pt x="1203960" y="0"/>
                  </a:lnTo>
                  <a:lnTo>
                    <a:pt x="1805939" y="985266"/>
                  </a:lnTo>
                  <a:lnTo>
                    <a:pt x="1203960" y="1970532"/>
                  </a:lnTo>
                  <a:lnTo>
                    <a:pt x="0" y="19705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03503" y="2630170"/>
            <a:ext cx="87185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Sender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has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idea</a:t>
            </a:r>
            <a:endParaRPr sz="2400">
              <a:latin typeface="Times New Roman"/>
              <a:cs typeface="Times New Roman"/>
            </a:endParaRPr>
          </a:p>
          <a:p>
            <a:pPr marL="12700" marR="55244">
              <a:lnSpc>
                <a:spcPct val="100000"/>
              </a:lnSpc>
              <a:spcBef>
                <a:spcPts val="1440"/>
              </a:spcBef>
            </a:pPr>
            <a:r>
              <a:rPr sz="2400" i="1" spc="-20" dirty="0">
                <a:solidFill>
                  <a:srgbClr val="DBF5F8"/>
                </a:solidFill>
                <a:latin typeface="Times New Roman"/>
                <a:cs typeface="Times New Roman"/>
              </a:rPr>
              <a:t>Warn </a:t>
            </a:r>
            <a:r>
              <a:rPr sz="2400" i="1" spc="-10" dirty="0">
                <a:solidFill>
                  <a:srgbClr val="DBF5F8"/>
                </a:solidFill>
                <a:latin typeface="Times New Roman"/>
                <a:cs typeface="Times New Roman"/>
              </a:rPr>
              <a:t>boater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59861" y="2589529"/>
            <a:ext cx="1831339" cy="1996439"/>
            <a:chOff x="2959861" y="2589529"/>
            <a:chExt cx="1831339" cy="1996439"/>
          </a:xfrm>
        </p:grpSpPr>
        <p:sp>
          <p:nvSpPr>
            <p:cNvPr id="8" name="object 8"/>
            <p:cNvSpPr/>
            <p:nvPr/>
          </p:nvSpPr>
          <p:spPr>
            <a:xfrm>
              <a:off x="297256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39" h="1971039">
                  <a:moveTo>
                    <a:pt x="1203960" y="0"/>
                  </a:moveTo>
                  <a:lnTo>
                    <a:pt x="0" y="0"/>
                  </a:lnTo>
                  <a:lnTo>
                    <a:pt x="0" y="1970532"/>
                  </a:lnTo>
                  <a:lnTo>
                    <a:pt x="1203960" y="1970532"/>
                  </a:lnTo>
                  <a:lnTo>
                    <a:pt x="1805939" y="985266"/>
                  </a:lnTo>
                  <a:lnTo>
                    <a:pt x="120396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256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39" h="1971039">
                  <a:moveTo>
                    <a:pt x="0" y="0"/>
                  </a:moveTo>
                  <a:lnTo>
                    <a:pt x="1203960" y="0"/>
                  </a:lnTo>
                  <a:lnTo>
                    <a:pt x="1805939" y="985266"/>
                  </a:lnTo>
                  <a:lnTo>
                    <a:pt x="1203960" y="1970532"/>
                  </a:lnTo>
                  <a:lnTo>
                    <a:pt x="0" y="19705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61207" y="2630170"/>
            <a:ext cx="105664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Sender encodes message</a:t>
            </a:r>
            <a:endParaRPr sz="2400">
              <a:latin typeface="Times New Roman"/>
              <a:cs typeface="Times New Roman"/>
            </a:endParaRPr>
          </a:p>
          <a:p>
            <a:pPr marL="12700" marR="69850">
              <a:lnSpc>
                <a:spcPct val="100000"/>
              </a:lnSpc>
              <a:spcBef>
                <a:spcPts val="1440"/>
              </a:spcBef>
            </a:pPr>
            <a:r>
              <a:rPr sz="2400" i="1" spc="-20" dirty="0">
                <a:solidFill>
                  <a:srgbClr val="DBF5F8"/>
                </a:solidFill>
                <a:latin typeface="Times New Roman"/>
                <a:cs typeface="Times New Roman"/>
              </a:rPr>
              <a:t>“Low </a:t>
            </a:r>
            <a:r>
              <a:rPr sz="2400" i="1" spc="-10" dirty="0">
                <a:solidFill>
                  <a:srgbClr val="DBF5F8"/>
                </a:solidFill>
                <a:latin typeface="Times New Roman"/>
                <a:cs typeface="Times New Roman"/>
              </a:rPr>
              <a:t>water!”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15738" y="2589529"/>
            <a:ext cx="1831339" cy="1996439"/>
            <a:chOff x="5015738" y="2589529"/>
            <a:chExt cx="1831339" cy="1996439"/>
          </a:xfrm>
        </p:grpSpPr>
        <p:sp>
          <p:nvSpPr>
            <p:cNvPr id="12" name="object 12"/>
            <p:cNvSpPr/>
            <p:nvPr/>
          </p:nvSpPr>
          <p:spPr>
            <a:xfrm>
              <a:off x="5028438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40" h="1971039">
                  <a:moveTo>
                    <a:pt x="1203960" y="0"/>
                  </a:moveTo>
                  <a:lnTo>
                    <a:pt x="0" y="0"/>
                  </a:lnTo>
                  <a:lnTo>
                    <a:pt x="0" y="1970532"/>
                  </a:lnTo>
                  <a:lnTo>
                    <a:pt x="1203960" y="1970532"/>
                  </a:lnTo>
                  <a:lnTo>
                    <a:pt x="1805939" y="985266"/>
                  </a:lnTo>
                  <a:lnTo>
                    <a:pt x="120396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28438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40" h="1971039">
                  <a:moveTo>
                    <a:pt x="0" y="0"/>
                  </a:moveTo>
                  <a:lnTo>
                    <a:pt x="1203960" y="0"/>
                  </a:lnTo>
                  <a:lnTo>
                    <a:pt x="1805939" y="985266"/>
                  </a:lnTo>
                  <a:lnTo>
                    <a:pt x="1203960" y="1970532"/>
                  </a:lnTo>
                  <a:lnTo>
                    <a:pt x="0" y="19705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17338" y="2630170"/>
            <a:ext cx="111188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69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 carries message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440"/>
              </a:spcBef>
            </a:pPr>
            <a:r>
              <a:rPr sz="2400" i="1" spc="-10" dirty="0">
                <a:solidFill>
                  <a:srgbClr val="DBF5F8"/>
                </a:solidFill>
                <a:latin typeface="Times New Roman"/>
                <a:cs typeface="Times New Roman"/>
              </a:rPr>
              <a:t>Message distorted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97521" y="2589529"/>
            <a:ext cx="1831339" cy="1996439"/>
            <a:chOff x="7097521" y="2589529"/>
            <a:chExt cx="1831339" cy="1996439"/>
          </a:xfrm>
        </p:grpSpPr>
        <p:sp>
          <p:nvSpPr>
            <p:cNvPr id="16" name="object 16"/>
            <p:cNvSpPr/>
            <p:nvPr/>
          </p:nvSpPr>
          <p:spPr>
            <a:xfrm>
              <a:off x="711022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40" h="1971039">
                  <a:moveTo>
                    <a:pt x="1203959" y="0"/>
                  </a:moveTo>
                  <a:lnTo>
                    <a:pt x="0" y="0"/>
                  </a:lnTo>
                  <a:lnTo>
                    <a:pt x="0" y="1970532"/>
                  </a:lnTo>
                  <a:lnTo>
                    <a:pt x="1203959" y="1970532"/>
                  </a:lnTo>
                  <a:lnTo>
                    <a:pt x="1805939" y="985266"/>
                  </a:lnTo>
                  <a:lnTo>
                    <a:pt x="1203959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10221" y="2602229"/>
              <a:ext cx="1805939" cy="1971039"/>
            </a:xfrm>
            <a:custGeom>
              <a:avLst/>
              <a:gdLst/>
              <a:ahLst/>
              <a:cxnLst/>
              <a:rect l="l" t="t" r="r" b="b"/>
              <a:pathLst>
                <a:path w="1805940" h="1971039">
                  <a:moveTo>
                    <a:pt x="0" y="0"/>
                  </a:moveTo>
                  <a:lnTo>
                    <a:pt x="1203959" y="0"/>
                  </a:lnTo>
                  <a:lnTo>
                    <a:pt x="1805939" y="985266"/>
                  </a:lnTo>
                  <a:lnTo>
                    <a:pt x="1203959" y="1970532"/>
                  </a:lnTo>
                  <a:lnTo>
                    <a:pt x="0" y="19705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198868" y="2630170"/>
            <a:ext cx="110934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Receiver decodes message</a:t>
            </a:r>
            <a:endParaRPr sz="2400">
              <a:latin typeface="Times New Roman"/>
              <a:cs typeface="Times New Roman"/>
            </a:endParaRPr>
          </a:p>
          <a:p>
            <a:pPr marL="12700" marR="12700">
              <a:lnSpc>
                <a:spcPct val="100000"/>
              </a:lnSpc>
              <a:spcBef>
                <a:spcPts val="1440"/>
              </a:spcBef>
            </a:pPr>
            <a:r>
              <a:rPr sz="2400" i="1" spc="-10" dirty="0">
                <a:solidFill>
                  <a:srgbClr val="DBF5F8"/>
                </a:solidFill>
                <a:latin typeface="Times New Roman"/>
                <a:cs typeface="Times New Roman"/>
              </a:rPr>
              <a:t>“Hello </a:t>
            </a:r>
            <a:r>
              <a:rPr sz="2400" i="1" spc="-35" dirty="0">
                <a:solidFill>
                  <a:srgbClr val="DBF5F8"/>
                </a:solidFill>
                <a:latin typeface="Times New Roman"/>
                <a:cs typeface="Times New Roman"/>
              </a:rPr>
              <a:t>Walter!”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26796"/>
            <a:ext cx="6574155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latin typeface="Calibri"/>
                <a:cs typeface="Calibri"/>
              </a:rPr>
              <a:t>Barriers</a:t>
            </a:r>
            <a:r>
              <a:rPr sz="4500" b="0" spc="-145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That</a:t>
            </a:r>
            <a:r>
              <a:rPr sz="4500" b="0" spc="-165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Caused </a:t>
            </a:r>
            <a:r>
              <a:rPr sz="4500" b="0" dirty="0">
                <a:latin typeface="Calibri"/>
                <a:cs typeface="Calibri"/>
              </a:rPr>
              <a:t>Cronkite</a:t>
            </a:r>
            <a:r>
              <a:rPr sz="4500" b="0" spc="-254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Miscommunication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998091"/>
            <a:ext cx="23336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spc="-30" dirty="0">
                <a:solidFill>
                  <a:srgbClr val="FF3300"/>
                </a:solidFill>
                <a:latin typeface="Constantia"/>
                <a:cs typeface="Constantia"/>
              </a:rPr>
              <a:t>Frame</a:t>
            </a:r>
            <a:r>
              <a:rPr sz="2000" spc="-95" dirty="0">
                <a:solidFill>
                  <a:srgbClr val="FF3300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3300"/>
                </a:solidFill>
                <a:latin typeface="Constantia"/>
                <a:cs typeface="Constantia"/>
              </a:rPr>
              <a:t>of</a:t>
            </a:r>
            <a:r>
              <a:rPr sz="2000" spc="20" dirty="0">
                <a:solidFill>
                  <a:srgbClr val="FF3300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Constantia"/>
                <a:cs typeface="Constantia"/>
              </a:rPr>
              <a:t>reference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3461384"/>
            <a:ext cx="19640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spc="-10" dirty="0">
                <a:solidFill>
                  <a:srgbClr val="FF3300"/>
                </a:solidFill>
                <a:latin typeface="Constantia"/>
                <a:cs typeface="Constantia"/>
              </a:rPr>
              <a:t>Language</a:t>
            </a:r>
            <a:r>
              <a:rPr sz="2000" spc="-55" dirty="0">
                <a:solidFill>
                  <a:srgbClr val="FF3300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Constantia"/>
                <a:cs typeface="Constantia"/>
              </a:rPr>
              <a:t>skills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444" y="4924805"/>
            <a:ext cx="1933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spc="-10" dirty="0">
                <a:solidFill>
                  <a:srgbClr val="FF3300"/>
                </a:solidFill>
                <a:latin typeface="Constantia"/>
                <a:cs typeface="Constantia"/>
              </a:rPr>
              <a:t>Listening</a:t>
            </a:r>
            <a:r>
              <a:rPr sz="2000" spc="-55" dirty="0">
                <a:solidFill>
                  <a:srgbClr val="FF3300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Constantia"/>
                <a:cs typeface="Constantia"/>
              </a:rPr>
              <a:t>skills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6428" y="1998091"/>
            <a:ext cx="3488054" cy="3257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1650" indent="-273050">
              <a:lnSpc>
                <a:spcPct val="100000"/>
              </a:lnSpc>
              <a:spcBef>
                <a:spcPts val="105"/>
              </a:spcBef>
              <a:buClr>
                <a:srgbClr val="0033CC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spc="-30" dirty="0">
                <a:solidFill>
                  <a:srgbClr val="FFFFFF"/>
                </a:solidFill>
                <a:latin typeface="Constantia"/>
                <a:cs typeface="Constantia"/>
              </a:rPr>
              <a:t>Receiver</a:t>
            </a:r>
            <a:r>
              <a:rPr sz="20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accustomed</a:t>
            </a:r>
            <a:r>
              <a:rPr sz="2000" spc="-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nstantia"/>
                <a:cs typeface="Constantia"/>
              </a:rPr>
              <a:t>to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acclaim</a:t>
            </a:r>
            <a:r>
              <a:rPr sz="20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0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appreciative crowds.</a:t>
            </a:r>
            <a:endParaRPr sz="2000" dirty="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635"/>
              </a:spcBef>
              <a:buClr>
                <a:srgbClr val="0033CC"/>
              </a:buClr>
              <a:buFont typeface="Segoe UI Symbol"/>
              <a:buChar char="⚫"/>
            </a:pPr>
            <a:endParaRPr sz="2000" dirty="0">
              <a:latin typeface="Constantia"/>
              <a:cs typeface="Constantia"/>
            </a:endParaRPr>
          </a:p>
          <a:p>
            <a:pPr marL="285115" marR="135890" indent="-273050">
              <a:lnSpc>
                <a:spcPct val="100000"/>
              </a:lnSpc>
              <a:spcBef>
                <a:spcPts val="5"/>
              </a:spcBef>
              <a:buClr>
                <a:srgbClr val="0033CC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spc="-20" dirty="0" smtClean="0">
                <a:solidFill>
                  <a:srgbClr val="FFFFFF"/>
                </a:solidFill>
                <a:latin typeface="Constantia"/>
                <a:cs typeface="Constantia"/>
              </a:rPr>
              <a:t>Accent</a:t>
            </a:r>
            <a:r>
              <a:rPr sz="2000" spc="-90" dirty="0" smtClean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makes</a:t>
            </a:r>
            <a:r>
              <a:rPr sz="2000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"water"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000" spc="-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nstantia"/>
                <a:cs typeface="Constantia"/>
              </a:rPr>
              <a:t>"Walter"</a:t>
            </a:r>
            <a:r>
              <a:rPr sz="20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sound</a:t>
            </a:r>
            <a:r>
              <a:rPr sz="20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similar.</a:t>
            </a:r>
            <a:endParaRPr sz="2000" dirty="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2120"/>
              </a:spcBef>
              <a:buClr>
                <a:srgbClr val="0033CC"/>
              </a:buClr>
              <a:buFont typeface="Segoe UI Symbol"/>
              <a:buChar char="⚫"/>
            </a:pPr>
            <a:endParaRPr sz="2000" dirty="0">
              <a:latin typeface="Constantia"/>
              <a:cs typeface="Constantia"/>
            </a:endParaRPr>
          </a:p>
          <a:p>
            <a:pPr marL="285115" marR="5080" indent="-273050">
              <a:lnSpc>
                <a:spcPct val="100000"/>
              </a:lnSpc>
              <a:buClr>
                <a:srgbClr val="0033CC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spc="-25" dirty="0">
                <a:solidFill>
                  <a:srgbClr val="FFFFFF"/>
                </a:solidFill>
                <a:latin typeface="Constantia"/>
                <a:cs typeface="Constantia"/>
              </a:rPr>
              <a:t>Receiver</a:t>
            </a:r>
            <a:r>
              <a:rPr sz="20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onstantia"/>
                <a:cs typeface="Constantia"/>
              </a:rPr>
              <a:t>more</a:t>
            </a:r>
            <a:r>
              <a:rPr sz="20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accustomed</a:t>
            </a:r>
            <a:r>
              <a:rPr sz="2000" spc="-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nstantia"/>
                <a:cs typeface="Constantia"/>
              </a:rPr>
              <a:t>to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speaking</a:t>
            </a:r>
            <a:r>
              <a:rPr sz="20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than</a:t>
            </a:r>
            <a:r>
              <a:rPr sz="20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0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listening.</a:t>
            </a:r>
            <a:endParaRPr sz="2000" dirty="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26796"/>
            <a:ext cx="6574155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latin typeface="Calibri"/>
                <a:cs typeface="Calibri"/>
              </a:rPr>
              <a:t>Barriers</a:t>
            </a:r>
            <a:r>
              <a:rPr sz="4500" b="0" spc="-145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That</a:t>
            </a:r>
            <a:r>
              <a:rPr sz="4500" b="0" spc="-165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Caused </a:t>
            </a:r>
            <a:r>
              <a:rPr sz="4500" b="0" dirty="0">
                <a:latin typeface="Calibri"/>
                <a:cs typeface="Calibri"/>
              </a:rPr>
              <a:t>Cronkite</a:t>
            </a:r>
            <a:r>
              <a:rPr sz="4500" b="0" spc="-254" dirty="0">
                <a:latin typeface="Calibri"/>
                <a:cs typeface="Calibri"/>
              </a:rPr>
              <a:t> </a:t>
            </a:r>
            <a:r>
              <a:rPr sz="4500" b="0" spc="-10" dirty="0">
                <a:latin typeface="Calibri"/>
                <a:cs typeface="Calibri"/>
              </a:rPr>
              <a:t>Miscommunication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8093" y="1953513"/>
            <a:ext cx="28308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solidFill>
                  <a:srgbClr val="FF3300"/>
                </a:solidFill>
                <a:latin typeface="Constantia"/>
                <a:cs typeface="Constantia"/>
              </a:rPr>
              <a:t>Emotional</a:t>
            </a:r>
            <a:r>
              <a:rPr sz="2000" spc="-35" dirty="0">
                <a:solidFill>
                  <a:srgbClr val="FF3300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Constantia"/>
                <a:cs typeface="Constantia"/>
              </a:rPr>
              <a:t>interference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8093" y="3295014"/>
            <a:ext cx="21132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solidFill>
                  <a:srgbClr val="FF3300"/>
                </a:solidFill>
                <a:latin typeface="Constantia"/>
                <a:cs typeface="Constantia"/>
              </a:rPr>
              <a:t>Physical</a:t>
            </a:r>
            <a:r>
              <a:rPr sz="2000" spc="-65" dirty="0">
                <a:solidFill>
                  <a:srgbClr val="FF3300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Constantia"/>
                <a:cs typeface="Constantia"/>
              </a:rPr>
              <a:t>barriers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6428" y="1998091"/>
            <a:ext cx="3545204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0033CC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spc="-20" dirty="0">
                <a:solidFill>
                  <a:srgbClr val="FFFFFF"/>
                </a:solidFill>
                <a:latin typeface="Constantia"/>
                <a:cs typeface="Constantia"/>
              </a:rPr>
              <a:t>Ego</a:t>
            </a:r>
            <a:r>
              <a:rPr sz="20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prompted</a:t>
            </a:r>
            <a:r>
              <a:rPr sz="20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nstantia"/>
                <a:cs typeface="Constantia"/>
              </a:rPr>
              <a:t>receiver</a:t>
            </a:r>
            <a:r>
              <a:rPr sz="20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nstantia"/>
                <a:cs typeface="Constantia"/>
              </a:rPr>
              <a:t>to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believe</a:t>
            </a:r>
            <a:r>
              <a:rPr sz="20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nstantia"/>
                <a:cs typeface="Constantia"/>
              </a:rPr>
              <a:t>crowd</a:t>
            </a:r>
            <a:r>
              <a:rPr sz="20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was</a:t>
            </a:r>
            <a:r>
              <a:rPr sz="20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responding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0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his</a:t>
            </a:r>
            <a:r>
              <a:rPr sz="20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celebrity</a:t>
            </a:r>
            <a:r>
              <a:rPr sz="20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status.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6428" y="3400425"/>
            <a:ext cx="308927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0033CC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Noise</a:t>
            </a:r>
            <a:r>
              <a:rPr sz="20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from</a:t>
            </a:r>
            <a:r>
              <a:rPr sz="20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boat,</a:t>
            </a:r>
            <a:r>
              <a:rPr sz="20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distance between</a:t>
            </a:r>
            <a:r>
              <a:rPr sz="20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senders</a:t>
            </a:r>
            <a:r>
              <a:rPr sz="20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nstantia"/>
                <a:cs typeface="Constantia"/>
              </a:rPr>
              <a:t>and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receivers.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9644" y="5052517"/>
            <a:ext cx="62928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Which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these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barriers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could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overcome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through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improved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communication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skills?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775585"/>
            <a:ext cx="81895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Another</a:t>
            </a:r>
            <a:r>
              <a:rPr sz="4000" b="0" spc="-10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Example</a:t>
            </a:r>
            <a:r>
              <a:rPr sz="4000" b="0" spc="-114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of</a:t>
            </a:r>
            <a:r>
              <a:rPr sz="4000" b="0" spc="-90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Miscommunication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4814" rIns="0" bIns="0" rtlCol="0">
            <a:spAutoFit/>
          </a:bodyPr>
          <a:lstStyle/>
          <a:p>
            <a:pPr marL="33147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As</a:t>
            </a:r>
            <a:r>
              <a:rPr sz="5000" b="0" spc="-170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Marketing</a:t>
            </a:r>
            <a:r>
              <a:rPr sz="5000" b="0" spc="-180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Requested</a:t>
            </a:r>
            <a:r>
              <a:rPr sz="5000" b="0" spc="-175" dirty="0">
                <a:latin typeface="Calibri"/>
                <a:cs typeface="Calibri"/>
              </a:rPr>
              <a:t> </a:t>
            </a:r>
            <a:r>
              <a:rPr sz="5000" b="0" spc="-25" dirty="0">
                <a:latin typeface="Calibri"/>
                <a:cs typeface="Calibri"/>
              </a:rPr>
              <a:t>It</a:t>
            </a:r>
            <a:endParaRPr sz="5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247900"/>
            <a:ext cx="3657600" cy="3086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1014" rIns="0" bIns="0" rtlCol="0">
            <a:spAutoFit/>
          </a:bodyPr>
          <a:lstStyle/>
          <a:p>
            <a:pPr marL="33147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As</a:t>
            </a:r>
            <a:r>
              <a:rPr sz="5000" b="0" spc="-90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Sales</a:t>
            </a:r>
            <a:r>
              <a:rPr sz="5000" b="0" spc="-80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Ordered</a:t>
            </a:r>
            <a:r>
              <a:rPr sz="5000" b="0" spc="-90" dirty="0">
                <a:latin typeface="Calibri"/>
                <a:cs typeface="Calibri"/>
              </a:rPr>
              <a:t> </a:t>
            </a:r>
            <a:r>
              <a:rPr sz="5000" b="0" spc="-25" dirty="0">
                <a:latin typeface="Calibri"/>
                <a:cs typeface="Calibri"/>
              </a:rPr>
              <a:t>It</a:t>
            </a:r>
            <a:endParaRPr sz="5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209800"/>
            <a:ext cx="3657600" cy="3258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773" rIns="0" bIns="0" rtlCol="0">
            <a:spAutoFit/>
          </a:bodyPr>
          <a:lstStyle/>
          <a:p>
            <a:pPr marL="33147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As</a:t>
            </a:r>
            <a:r>
              <a:rPr sz="5000" b="0" spc="-45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Engineering</a:t>
            </a:r>
            <a:r>
              <a:rPr sz="5000" b="0" spc="-50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Designed</a:t>
            </a:r>
            <a:r>
              <a:rPr sz="5000" b="0" spc="-60" dirty="0">
                <a:latin typeface="Calibri"/>
                <a:cs typeface="Calibri"/>
              </a:rPr>
              <a:t> </a:t>
            </a:r>
            <a:r>
              <a:rPr sz="5000" b="0" spc="-25" dirty="0">
                <a:latin typeface="Calibri"/>
                <a:cs typeface="Calibri"/>
              </a:rPr>
              <a:t>It</a:t>
            </a:r>
            <a:endParaRPr sz="5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218944"/>
            <a:ext cx="3657600" cy="3496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2552" rIns="0" bIns="0" rtlCol="0">
            <a:spAutoFit/>
          </a:bodyPr>
          <a:lstStyle/>
          <a:p>
            <a:pPr marL="63627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latin typeface="Calibri"/>
                <a:cs typeface="Calibri"/>
              </a:rPr>
              <a:t>As</a:t>
            </a:r>
            <a:r>
              <a:rPr sz="4500" b="0" spc="-130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Production</a:t>
            </a:r>
            <a:r>
              <a:rPr sz="4500" b="0" spc="-130" dirty="0">
                <a:latin typeface="Calibri"/>
                <a:cs typeface="Calibri"/>
              </a:rPr>
              <a:t> </a:t>
            </a:r>
            <a:r>
              <a:rPr sz="4500" b="0" dirty="0">
                <a:latin typeface="Calibri"/>
                <a:cs typeface="Calibri"/>
              </a:rPr>
              <a:t>Manufactured</a:t>
            </a:r>
            <a:r>
              <a:rPr sz="4500" b="0" spc="-160" dirty="0">
                <a:latin typeface="Calibri"/>
                <a:cs typeface="Calibri"/>
              </a:rPr>
              <a:t> </a:t>
            </a:r>
            <a:r>
              <a:rPr sz="4500" b="0" spc="-25" dirty="0">
                <a:latin typeface="Calibri"/>
                <a:cs typeface="Calibri"/>
              </a:rPr>
              <a:t>It</a:t>
            </a:r>
            <a:endParaRPr sz="4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295144"/>
            <a:ext cx="3657600" cy="3115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5" rIns="0" bIns="0" rtlCol="0">
            <a:spAutoFit/>
          </a:bodyPr>
          <a:lstStyle/>
          <a:p>
            <a:pPr marL="40767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As</a:t>
            </a:r>
            <a:r>
              <a:rPr sz="5000" b="0" spc="-110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Maintenance</a:t>
            </a:r>
            <a:r>
              <a:rPr sz="5000" b="0" spc="-125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Installed</a:t>
            </a:r>
            <a:r>
              <a:rPr sz="5000" b="0" spc="-105" dirty="0">
                <a:latin typeface="Calibri"/>
                <a:cs typeface="Calibri"/>
              </a:rPr>
              <a:t> </a:t>
            </a:r>
            <a:r>
              <a:rPr sz="5000" b="0" spc="-25" dirty="0">
                <a:latin typeface="Calibri"/>
                <a:cs typeface="Calibri"/>
              </a:rPr>
              <a:t>It</a:t>
            </a:r>
            <a:endParaRPr sz="5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209800"/>
            <a:ext cx="3657600" cy="3171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5" rIns="0" bIns="0" rtlCol="0">
            <a:spAutoFit/>
          </a:bodyPr>
          <a:lstStyle/>
          <a:p>
            <a:pPr marL="33147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What</a:t>
            </a:r>
            <a:r>
              <a:rPr sz="5000" b="0" spc="-65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the</a:t>
            </a:r>
            <a:r>
              <a:rPr sz="5000" b="0" spc="-95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Customer</a:t>
            </a:r>
            <a:r>
              <a:rPr sz="5000" b="0" spc="-85" dirty="0">
                <a:latin typeface="Calibri"/>
                <a:cs typeface="Calibri"/>
              </a:rPr>
              <a:t> </a:t>
            </a:r>
            <a:r>
              <a:rPr sz="5000" b="0" spc="-25" dirty="0">
                <a:latin typeface="Calibri"/>
                <a:cs typeface="Calibri"/>
              </a:rPr>
              <a:t>Wanted</a:t>
            </a:r>
            <a:endParaRPr sz="5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362200"/>
            <a:ext cx="3657600" cy="31440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468" y="984377"/>
            <a:ext cx="7491044" cy="4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32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What</a:t>
            </a:r>
            <a:r>
              <a:rPr sz="4500" b="0" spc="-10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is</a:t>
            </a:r>
            <a:r>
              <a:rPr sz="4500" b="0" spc="-6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Project</a:t>
            </a:r>
            <a:r>
              <a:rPr sz="4500" b="0" spc="-7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10" dirty="0">
                <a:solidFill>
                  <a:srgbClr val="FC0000"/>
                </a:solidFill>
                <a:latin typeface="Calibri"/>
                <a:cs typeface="Calibri"/>
              </a:rPr>
              <a:t>communication?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867055"/>
            <a:ext cx="7180580" cy="272859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3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Writing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that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addresses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particular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need</a:t>
            </a:r>
            <a:endParaRPr sz="2600">
              <a:latin typeface="Constantia"/>
              <a:cs typeface="Constantia"/>
            </a:endParaRPr>
          </a:p>
          <a:p>
            <a:pPr marL="652145" lvl="1" indent="-246379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2145" algn="l"/>
              </a:tabLst>
            </a:pPr>
            <a:r>
              <a:rPr sz="2400" spc="-25" dirty="0">
                <a:solidFill>
                  <a:srgbClr val="FFFFFF"/>
                </a:solidFill>
                <a:latin typeface="Constantia"/>
                <a:cs typeface="Constantia"/>
              </a:rPr>
              <a:t>User-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oriented</a:t>
            </a:r>
            <a:r>
              <a:rPr sz="24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documents</a:t>
            </a:r>
            <a:endParaRPr sz="2400">
              <a:latin typeface="Constantia"/>
              <a:cs typeface="Constantia"/>
            </a:endParaRPr>
          </a:p>
          <a:p>
            <a:pPr marL="652145" lvl="1" indent="-246379">
              <a:lnSpc>
                <a:spcPct val="100000"/>
              </a:lnSpc>
              <a:spcBef>
                <a:spcPts val="580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2145" algn="l"/>
              </a:tabLst>
            </a:pP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Efficient</a:t>
            </a:r>
            <a:r>
              <a:rPr sz="24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documents</a:t>
            </a:r>
            <a:endParaRPr sz="2400">
              <a:latin typeface="Constantia"/>
              <a:cs typeface="Constantia"/>
            </a:endParaRPr>
          </a:p>
          <a:p>
            <a:pPr marL="285115" marR="5080" indent="-274955">
              <a:lnSpc>
                <a:spcPct val="100000"/>
              </a:lnSpc>
              <a:spcBef>
                <a:spcPts val="61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with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electronic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human component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that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reaches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global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audience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792" y="1167257"/>
            <a:ext cx="7371676" cy="3940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41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FC0000"/>
                </a:solidFill>
                <a:latin typeface="Calibri"/>
                <a:cs typeface="Calibri"/>
              </a:rPr>
              <a:t>How</a:t>
            </a:r>
            <a:r>
              <a:rPr sz="3600" b="0" spc="-5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FC0000"/>
                </a:solidFill>
                <a:latin typeface="Calibri"/>
                <a:cs typeface="Calibri"/>
              </a:rPr>
              <a:t>is</a:t>
            </a:r>
            <a:r>
              <a:rPr sz="3600" b="0" spc="-7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FC0000"/>
                </a:solidFill>
                <a:latin typeface="Calibri"/>
                <a:cs typeface="Calibri"/>
              </a:rPr>
              <a:t>Project</a:t>
            </a:r>
            <a:r>
              <a:rPr sz="3600" b="0" spc="-6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FC0000"/>
                </a:solidFill>
                <a:latin typeface="Calibri"/>
                <a:cs typeface="Calibri"/>
              </a:rPr>
              <a:t>Communication</a:t>
            </a:r>
            <a:r>
              <a:rPr sz="3600" b="0" spc="-10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3600" b="0" spc="-10" dirty="0">
                <a:solidFill>
                  <a:srgbClr val="FC0000"/>
                </a:solidFill>
                <a:latin typeface="Calibri"/>
                <a:cs typeface="Calibri"/>
              </a:rPr>
              <a:t>defined?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947418"/>
            <a:ext cx="8082280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4955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Producing</a:t>
            </a:r>
            <a:r>
              <a:rPr sz="2600" spc="51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project</a:t>
            </a:r>
            <a:r>
              <a:rPr sz="2600" spc="4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600" spc="5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involves</a:t>
            </a:r>
            <a:r>
              <a:rPr sz="2600" spc="5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creating,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designing,</a:t>
            </a:r>
            <a:r>
              <a:rPr sz="2600" spc="3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3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transmitting</a:t>
            </a:r>
            <a:r>
              <a:rPr sz="2600" spc="3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technical</a:t>
            </a:r>
            <a:r>
              <a:rPr sz="2600" spc="3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information</a:t>
            </a:r>
            <a:r>
              <a:rPr sz="2600" spc="2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so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that</a:t>
            </a:r>
            <a:r>
              <a:rPr sz="2600" spc="1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1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can</a:t>
            </a:r>
            <a:r>
              <a:rPr sz="2600" spc="2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understand</a:t>
            </a:r>
            <a:r>
              <a:rPr sz="2600" spc="2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it</a:t>
            </a:r>
            <a:r>
              <a:rPr sz="2600" spc="1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easily</a:t>
            </a:r>
            <a:r>
              <a:rPr sz="2600" spc="1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2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use</a:t>
            </a:r>
            <a:r>
              <a:rPr sz="2600" spc="1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it</a:t>
            </a:r>
            <a:r>
              <a:rPr sz="2600" spc="1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safely, </a:t>
            </a: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effectively,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efficiently.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Markel,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2001,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p.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4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621" y="966724"/>
            <a:ext cx="8618270" cy="3516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2100" y="869645"/>
            <a:ext cx="87090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solidFill>
                  <a:srgbClr val="FC0000"/>
                </a:solidFill>
                <a:latin typeface="Calibri"/>
                <a:cs typeface="Calibri"/>
              </a:rPr>
              <a:t>How</a:t>
            </a:r>
            <a:r>
              <a:rPr sz="4000" b="0" spc="-9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000" b="0" dirty="0">
                <a:solidFill>
                  <a:srgbClr val="FC0000"/>
                </a:solidFill>
                <a:latin typeface="Calibri"/>
                <a:cs typeface="Calibri"/>
              </a:rPr>
              <a:t>is</a:t>
            </a:r>
            <a:r>
              <a:rPr sz="4000" b="0" spc="-9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000" b="0" spc="-35" dirty="0">
                <a:solidFill>
                  <a:srgbClr val="FC0000"/>
                </a:solidFill>
                <a:latin typeface="Calibri"/>
                <a:cs typeface="Calibri"/>
              </a:rPr>
              <a:t>Technical</a:t>
            </a:r>
            <a:r>
              <a:rPr sz="4000" b="0" spc="-10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000" b="0" spc="-10" dirty="0">
                <a:solidFill>
                  <a:srgbClr val="FC0000"/>
                </a:solidFill>
                <a:latin typeface="Calibri"/>
                <a:cs typeface="Calibri"/>
              </a:rPr>
              <a:t>Communication</a:t>
            </a:r>
            <a:r>
              <a:rPr sz="4000" b="0" spc="-9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000" b="0" spc="-10" dirty="0">
                <a:solidFill>
                  <a:srgbClr val="FC0000"/>
                </a:solidFill>
                <a:latin typeface="Calibri"/>
                <a:cs typeface="Calibri"/>
              </a:rPr>
              <a:t>defined?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947418"/>
            <a:ext cx="8077834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4955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Technical</a:t>
            </a:r>
            <a:r>
              <a:rPr sz="2600" spc="9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600" spc="8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is</a:t>
            </a:r>
            <a:r>
              <a:rPr sz="2600" spc="80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7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process</a:t>
            </a:r>
            <a:r>
              <a:rPr sz="2600" spc="90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by</a:t>
            </a:r>
            <a:r>
              <a:rPr sz="2600" spc="6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which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researchers</a:t>
            </a:r>
            <a:r>
              <a:rPr sz="2600" spc="-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 technical experts</a:t>
            </a: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develop</a:t>
            </a:r>
            <a:r>
              <a:rPr sz="2600" spc="-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information products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users.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Killingsworth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&amp;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Palmer,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1999,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p.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 4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393" y="982472"/>
            <a:ext cx="7735963" cy="4925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32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How</a:t>
            </a:r>
            <a:r>
              <a:rPr sz="4500" b="0" spc="-14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is</a:t>
            </a:r>
            <a:r>
              <a:rPr sz="4500" b="0" spc="-11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30" dirty="0">
                <a:solidFill>
                  <a:srgbClr val="FC0000"/>
                </a:solidFill>
                <a:latin typeface="Calibri"/>
                <a:cs typeface="Calibri"/>
              </a:rPr>
              <a:t>Technical</a:t>
            </a:r>
            <a:r>
              <a:rPr sz="4500" b="0" spc="-15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Writing</a:t>
            </a:r>
            <a:r>
              <a:rPr sz="4500" b="0" spc="-10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10" dirty="0">
                <a:solidFill>
                  <a:srgbClr val="FC0000"/>
                </a:solidFill>
                <a:latin typeface="Calibri"/>
                <a:cs typeface="Calibri"/>
              </a:rPr>
              <a:t>defined?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947418"/>
            <a:ext cx="8082280" cy="2404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4955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Technical</a:t>
            </a:r>
            <a:r>
              <a:rPr sz="2600" spc="31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writing</a:t>
            </a:r>
            <a:r>
              <a:rPr sz="2600" spc="32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informs,</a:t>
            </a:r>
            <a:r>
              <a:rPr sz="2600" spc="31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explains,</a:t>
            </a:r>
            <a:r>
              <a:rPr sz="2600" spc="320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instructs,</a:t>
            </a:r>
            <a:r>
              <a:rPr sz="2600" spc="310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or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persuades</a:t>
            </a:r>
            <a:r>
              <a:rPr sz="2600" spc="130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14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specific</a:t>
            </a:r>
            <a:r>
              <a:rPr sz="2600" spc="13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audience</a:t>
            </a:r>
            <a:r>
              <a:rPr sz="2600" spc="14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through</a:t>
            </a:r>
            <a:r>
              <a:rPr sz="2600" spc="150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mastery</a:t>
            </a:r>
            <a:r>
              <a:rPr sz="2600" spc="140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of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specific</a:t>
            </a:r>
            <a:r>
              <a:rPr sz="2600" spc="2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strategies</a:t>
            </a:r>
            <a:r>
              <a:rPr sz="2600" spc="3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3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sometimes</a:t>
            </a:r>
            <a:r>
              <a:rPr sz="2600" spc="3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2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special</a:t>
            </a:r>
            <a:r>
              <a:rPr sz="2600" spc="3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language,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so</a:t>
            </a:r>
            <a:r>
              <a:rPr sz="2600" spc="2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that</a:t>
            </a:r>
            <a:r>
              <a:rPr sz="2600" spc="2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readers</a:t>
            </a:r>
            <a:r>
              <a:rPr sz="2600" spc="3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gain</a:t>
            </a:r>
            <a:r>
              <a:rPr sz="2600" spc="3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new</a:t>
            </a:r>
            <a:r>
              <a:rPr sz="2600" spc="3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knowledge</a:t>
            </a:r>
            <a:r>
              <a:rPr sz="2600" spc="2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or</a:t>
            </a:r>
            <a:r>
              <a:rPr sz="2600" spc="2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2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ability</a:t>
            </a:r>
            <a:r>
              <a:rPr sz="2600" spc="2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to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perform</a:t>
            </a:r>
            <a:r>
              <a:rPr sz="2600" spc="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their</a:t>
            </a:r>
            <a:r>
              <a:rPr sz="2600" spc="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own</a:t>
            </a:r>
            <a:r>
              <a:rPr sz="2600" spc="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complex</a:t>
            </a:r>
            <a:r>
              <a:rPr sz="2600" spc="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specialized</a:t>
            </a:r>
            <a:r>
              <a:rPr sz="2600" spc="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jobs</a:t>
            </a:r>
            <a:r>
              <a:rPr sz="2600" spc="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more 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effectively.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VanAlstyne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&amp;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Tritt,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2002,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p.</a:t>
            </a:r>
            <a:r>
              <a:rPr sz="2600" spc="-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6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468" y="984377"/>
            <a:ext cx="8254568" cy="39408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865073"/>
            <a:ext cx="832358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Who</a:t>
            </a:r>
            <a:r>
              <a:rPr sz="4500" b="0" spc="-9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are</a:t>
            </a:r>
            <a:r>
              <a:rPr sz="4500" b="0" spc="-6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35" dirty="0">
                <a:solidFill>
                  <a:srgbClr val="FC0000"/>
                </a:solidFill>
                <a:latin typeface="Calibri"/>
                <a:cs typeface="Calibri"/>
              </a:rPr>
              <a:t>Technical</a:t>
            </a:r>
            <a:r>
              <a:rPr sz="4500" b="0" spc="-10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10" dirty="0">
                <a:solidFill>
                  <a:srgbClr val="FC0000"/>
                </a:solidFill>
                <a:latin typeface="Calibri"/>
                <a:cs typeface="Calibri"/>
              </a:rPr>
              <a:t>Communicators?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868779"/>
            <a:ext cx="4950460" cy="28790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Technical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writer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Technical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editor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Web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designer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Online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documentation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specialist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Information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developer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Instructional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developer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463" y="1233169"/>
            <a:ext cx="4955781" cy="39293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0468" y="546226"/>
            <a:ext cx="6376492" cy="3940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What</a:t>
            </a:r>
            <a:r>
              <a:rPr sz="4500" b="0" spc="-8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Skills</a:t>
            </a:r>
            <a:r>
              <a:rPr sz="4500" b="0" spc="-3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does</a:t>
            </a:r>
            <a:r>
              <a:rPr sz="4500" b="0" spc="-5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a</a:t>
            </a:r>
            <a:r>
              <a:rPr sz="4500" b="0" spc="-6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35" dirty="0">
                <a:solidFill>
                  <a:srgbClr val="FC0000"/>
                </a:solidFill>
                <a:latin typeface="Calibri"/>
                <a:cs typeface="Calibri"/>
              </a:rPr>
              <a:t>Technical </a:t>
            </a:r>
            <a:r>
              <a:rPr sz="4500" b="0" spc="-10" dirty="0">
                <a:solidFill>
                  <a:srgbClr val="FC0000"/>
                </a:solidFill>
                <a:latin typeface="Calibri"/>
                <a:cs typeface="Calibri"/>
              </a:rPr>
              <a:t>Communicator</a:t>
            </a:r>
            <a:r>
              <a:rPr sz="4500" b="0" spc="-17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10" dirty="0">
                <a:solidFill>
                  <a:srgbClr val="FC0000"/>
                </a:solidFill>
                <a:latin typeface="Calibri"/>
                <a:cs typeface="Calibri"/>
              </a:rPr>
              <a:t>need?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868779"/>
            <a:ext cx="5668645" cy="383032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Address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particular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readers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Help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readers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solve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problems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Reflect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</a:t>
            </a: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organization’s</a:t>
            </a:r>
            <a:r>
              <a:rPr sz="2600" spc="-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goals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culture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Work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collaboratively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Use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design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increase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readability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Use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words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or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graphics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or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both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Use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high-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tech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tools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Meet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deadlines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468" y="522097"/>
            <a:ext cx="7649667" cy="3959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509" y="1209802"/>
            <a:ext cx="6701383" cy="3940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4500" y="404571"/>
            <a:ext cx="7722234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What</a:t>
            </a:r>
            <a:r>
              <a:rPr sz="4500" b="0" spc="-8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are</a:t>
            </a:r>
            <a:r>
              <a:rPr sz="4500" b="0" spc="-5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Measures</a:t>
            </a:r>
            <a:r>
              <a:rPr sz="4500" b="0" spc="-8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of</a:t>
            </a:r>
            <a:r>
              <a:rPr sz="4500" b="0" spc="-5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10" dirty="0">
                <a:solidFill>
                  <a:srgbClr val="FC0000"/>
                </a:solidFill>
                <a:latin typeface="Calibri"/>
                <a:cs typeface="Calibri"/>
              </a:rPr>
              <a:t>Excellence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in</a:t>
            </a:r>
            <a:r>
              <a:rPr sz="4500" b="0" spc="-10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30" dirty="0">
                <a:solidFill>
                  <a:srgbClr val="FC0000"/>
                </a:solidFill>
                <a:latin typeface="Calibri"/>
                <a:cs typeface="Calibri"/>
              </a:rPr>
              <a:t>Technical</a:t>
            </a:r>
            <a:r>
              <a:rPr sz="4500" b="0" spc="-13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10" dirty="0">
                <a:solidFill>
                  <a:srgbClr val="FC0000"/>
                </a:solidFill>
                <a:latin typeface="Calibri"/>
                <a:cs typeface="Calibri"/>
              </a:rPr>
              <a:t>Communication?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868779"/>
            <a:ext cx="3729990" cy="43059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Honesty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Clarity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Accuracy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Comprehensiveness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Accessibility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Conciseness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Professional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appearance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Correctness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Relevance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468" y="544322"/>
            <a:ext cx="6617157" cy="4922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591" y="1232027"/>
            <a:ext cx="4204462" cy="490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What</a:t>
            </a:r>
            <a:r>
              <a:rPr sz="4500" b="0" spc="-14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are</a:t>
            </a:r>
            <a:r>
              <a:rPr sz="4500" b="0" spc="-11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Seven</a:t>
            </a:r>
            <a:r>
              <a:rPr sz="4500" b="0" spc="-11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Principles</a:t>
            </a:r>
            <a:r>
              <a:rPr sz="4500" b="0" spc="-13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25" dirty="0">
                <a:solidFill>
                  <a:srgbClr val="FC0000"/>
                </a:solidFill>
                <a:latin typeface="Calibri"/>
                <a:cs typeface="Calibri"/>
              </a:rPr>
              <a:t>of </a:t>
            </a:r>
            <a:r>
              <a:rPr sz="4500" b="0" spc="-30" dirty="0">
                <a:solidFill>
                  <a:srgbClr val="FC0000"/>
                </a:solidFill>
                <a:latin typeface="Calibri"/>
                <a:cs typeface="Calibri"/>
              </a:rPr>
              <a:t>Technical</a:t>
            </a:r>
            <a:r>
              <a:rPr sz="4500" b="0" spc="-19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10" dirty="0">
                <a:solidFill>
                  <a:srgbClr val="FC0000"/>
                </a:solidFill>
                <a:latin typeface="Calibri"/>
                <a:cs typeface="Calibri"/>
              </a:rPr>
              <a:t>Writing?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868779"/>
            <a:ext cx="6944359" cy="375094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Know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your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purpose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Know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your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audience</a:t>
            </a:r>
            <a:endParaRPr sz="2600">
              <a:latin typeface="Constantia"/>
              <a:cs typeface="Constantia"/>
            </a:endParaRPr>
          </a:p>
          <a:p>
            <a:pPr marL="285115" marR="5080" indent="-27495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Choose</a:t>
            </a:r>
            <a:r>
              <a:rPr sz="2600" spc="-1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organize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your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content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around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your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audience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Write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clearly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precisely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Use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good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page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design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Think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visually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Write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ethically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468" y="544322"/>
            <a:ext cx="6396304" cy="4922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463" y="1237361"/>
            <a:ext cx="3896601" cy="3887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What</a:t>
            </a:r>
            <a:r>
              <a:rPr sz="4500" b="0" spc="-114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are</a:t>
            </a:r>
            <a:r>
              <a:rPr sz="4500" b="0" spc="-8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10" dirty="0">
                <a:solidFill>
                  <a:srgbClr val="FC0000"/>
                </a:solidFill>
                <a:latin typeface="Calibri"/>
                <a:cs typeface="Calibri"/>
              </a:rPr>
              <a:t>Types</a:t>
            </a:r>
            <a:r>
              <a:rPr sz="4500" b="0" spc="-110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FC0000"/>
                </a:solidFill>
                <a:latin typeface="Calibri"/>
                <a:cs typeface="Calibri"/>
              </a:rPr>
              <a:t>of</a:t>
            </a:r>
            <a:r>
              <a:rPr sz="4500" b="0" spc="-85" dirty="0">
                <a:solidFill>
                  <a:srgbClr val="FC0000"/>
                </a:solidFill>
                <a:latin typeface="Calibri"/>
                <a:cs typeface="Calibri"/>
              </a:rPr>
              <a:t> </a:t>
            </a:r>
            <a:r>
              <a:rPr sz="4500" b="0" spc="-40" dirty="0">
                <a:solidFill>
                  <a:srgbClr val="FC0000"/>
                </a:solidFill>
                <a:latin typeface="Calibri"/>
                <a:cs typeface="Calibri"/>
              </a:rPr>
              <a:t>Technical </a:t>
            </a:r>
            <a:r>
              <a:rPr sz="4500" b="0" spc="-10" dirty="0">
                <a:solidFill>
                  <a:srgbClr val="FC0000"/>
                </a:solidFill>
                <a:latin typeface="Calibri"/>
                <a:cs typeface="Calibri"/>
              </a:rPr>
              <a:t>Communication?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0" y="1838680"/>
            <a:ext cx="2038350" cy="43059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Manuals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Procedures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Instructions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Online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help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Reports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Proposals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Memos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Email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Web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pages</a:t>
            </a:r>
            <a:endParaRPr sz="2600">
              <a:latin typeface="Constantia"/>
              <a:cs typeface="Constant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4626" y="1917319"/>
            <a:ext cx="33845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Quick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reference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cards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2651836"/>
            <a:ext cx="7544434" cy="3141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indent="-133350">
              <a:lnSpc>
                <a:spcPts val="3195"/>
              </a:lnSpc>
              <a:spcBef>
                <a:spcPts val="95"/>
              </a:spcBef>
              <a:buClr>
                <a:srgbClr val="FFFFFF"/>
              </a:buClr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Emphasis</a:t>
            </a:r>
            <a:r>
              <a:rPr sz="28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8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teamwork</a:t>
            </a:r>
            <a:endParaRPr sz="2800">
              <a:latin typeface="Times New Roman"/>
              <a:cs typeface="Times New Roman"/>
            </a:endParaRPr>
          </a:p>
          <a:p>
            <a:pPr marL="135890" indent="-133350">
              <a:lnSpc>
                <a:spcPts val="3025"/>
              </a:lnSpc>
              <a:buSzPct val="96428"/>
              <a:buFont typeface="Times New Roman"/>
              <a:buChar char="•"/>
              <a:tabLst>
                <a:tab pos="135890" algn="l"/>
              </a:tabLst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Improve</a:t>
            </a:r>
            <a:r>
              <a:rPr sz="2800" b="1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reporting</a:t>
            </a:r>
            <a:r>
              <a:rPr sz="2800" b="1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135890" indent="-133350">
              <a:lnSpc>
                <a:spcPts val="3025"/>
              </a:lnSpc>
              <a:buSzPct val="96428"/>
              <a:buFont typeface="Times New Roman"/>
              <a:buChar char="•"/>
              <a:tabLst>
                <a:tab pos="135890" algn="l"/>
              </a:tabLst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Focus</a:t>
            </a:r>
            <a:r>
              <a:rPr sz="28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8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employees</a:t>
            </a:r>
            <a:r>
              <a:rPr sz="28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participation</a:t>
            </a:r>
            <a:r>
              <a:rPr sz="28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8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involvement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ts val="3025"/>
              </a:lnSpc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Improve</a:t>
            </a:r>
            <a:r>
              <a:rPr sz="280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r>
              <a:rPr sz="28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135890" indent="-133350">
              <a:lnSpc>
                <a:spcPts val="3025"/>
              </a:lnSpc>
              <a:buSzPct val="96428"/>
              <a:buFont typeface="Times New Roman"/>
              <a:buChar char="•"/>
              <a:tabLst>
                <a:tab pos="135890" algn="l"/>
              </a:tabLst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Change</a:t>
            </a:r>
            <a:r>
              <a:rPr sz="28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organizational</a:t>
            </a:r>
            <a:r>
              <a:rPr sz="28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culture.</a:t>
            </a:r>
            <a:endParaRPr sz="2800">
              <a:latin typeface="Times New Roman"/>
              <a:cs typeface="Times New Roman"/>
            </a:endParaRPr>
          </a:p>
          <a:p>
            <a:pPr marL="135890" indent="-133350">
              <a:lnSpc>
                <a:spcPts val="3025"/>
              </a:lnSpc>
              <a:buSzPct val="96428"/>
              <a:buFont typeface="Times New Roman"/>
              <a:buChar char="•"/>
              <a:tabLst>
                <a:tab pos="135890" algn="l"/>
              </a:tabLst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Flatter</a:t>
            </a:r>
            <a:r>
              <a:rPr sz="28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hierarchy.</a:t>
            </a:r>
            <a:endParaRPr sz="2800">
              <a:latin typeface="Times New Roman"/>
              <a:cs typeface="Times New Roman"/>
            </a:endParaRPr>
          </a:p>
          <a:p>
            <a:pPr marL="135890" indent="-133350">
              <a:lnSpc>
                <a:spcPts val="3025"/>
              </a:lnSpc>
              <a:buSzPct val="96428"/>
              <a:buFont typeface="Times New Roman"/>
              <a:buChar char="•"/>
              <a:tabLst>
                <a:tab pos="135890" algn="l"/>
              </a:tabLst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Cross</a:t>
            </a:r>
            <a:r>
              <a:rPr sz="28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functional</a:t>
            </a:r>
            <a:r>
              <a:rPr sz="28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teams.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ts val="3190"/>
              </a:lnSpc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Fewer</a:t>
            </a:r>
            <a:r>
              <a:rPr sz="2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control.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9048" y="862457"/>
            <a:ext cx="5692902" cy="4533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4726" y="1472311"/>
            <a:ext cx="3328289" cy="3512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60017" y="762761"/>
            <a:ext cx="574865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5870" marR="5080" indent="-1233805">
              <a:lnSpc>
                <a:spcPct val="100000"/>
              </a:lnSpc>
              <a:spcBef>
                <a:spcPts val="95"/>
              </a:spcBef>
            </a:pPr>
            <a:r>
              <a:rPr sz="4000" i="1" spc="-35" dirty="0">
                <a:solidFill>
                  <a:srgbClr val="FC0000"/>
                </a:solidFill>
                <a:latin typeface="Times New Roman"/>
                <a:cs typeface="Times New Roman"/>
              </a:rPr>
              <a:t>Techniques</a:t>
            </a:r>
            <a:r>
              <a:rPr sz="4000" i="1" spc="-110" dirty="0">
                <a:solidFill>
                  <a:srgbClr val="FC0000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FC0000"/>
                </a:solidFill>
                <a:latin typeface="Times New Roman"/>
                <a:cs typeface="Times New Roman"/>
              </a:rPr>
              <a:t>to</a:t>
            </a:r>
            <a:r>
              <a:rPr sz="4000" i="1" spc="-120" dirty="0">
                <a:solidFill>
                  <a:srgbClr val="FC0000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FC0000"/>
                </a:solidFill>
                <a:latin typeface="Times New Roman"/>
                <a:cs typeface="Times New Roman"/>
              </a:rPr>
              <a:t>Improve</a:t>
            </a:r>
            <a:r>
              <a:rPr sz="4000" i="1" spc="-120" dirty="0">
                <a:solidFill>
                  <a:srgbClr val="FC0000"/>
                </a:solidFill>
                <a:latin typeface="Times New Roman"/>
                <a:cs typeface="Times New Roman"/>
              </a:rPr>
              <a:t> </a:t>
            </a:r>
            <a:r>
              <a:rPr sz="4000" i="1" spc="-25" dirty="0">
                <a:solidFill>
                  <a:srgbClr val="FC0000"/>
                </a:solidFill>
                <a:latin typeface="Times New Roman"/>
                <a:cs typeface="Times New Roman"/>
              </a:rPr>
              <a:t>Org </a:t>
            </a:r>
            <a:r>
              <a:rPr sz="4000" i="1" spc="-10" dirty="0">
                <a:solidFill>
                  <a:srgbClr val="FC0000"/>
                </a:solidFill>
                <a:latin typeface="Times New Roman"/>
                <a:cs typeface="Times New Roman"/>
              </a:rPr>
              <a:t>Communication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703" y="956310"/>
            <a:ext cx="6726910" cy="3506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587" y="1445513"/>
            <a:ext cx="2248179" cy="34912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8300" y="891286"/>
            <a:ext cx="678751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C0000"/>
                </a:solidFill>
              </a:rPr>
              <a:t>Guidelines</a:t>
            </a:r>
            <a:r>
              <a:rPr spc="-70" dirty="0">
                <a:solidFill>
                  <a:srgbClr val="FC0000"/>
                </a:solidFill>
              </a:rPr>
              <a:t> </a:t>
            </a:r>
            <a:r>
              <a:rPr dirty="0">
                <a:solidFill>
                  <a:srgbClr val="FC0000"/>
                </a:solidFill>
              </a:rPr>
              <a:t>for</a:t>
            </a:r>
            <a:r>
              <a:rPr spc="-30" dirty="0">
                <a:solidFill>
                  <a:srgbClr val="FC0000"/>
                </a:solidFill>
              </a:rPr>
              <a:t> </a:t>
            </a:r>
            <a:r>
              <a:rPr dirty="0">
                <a:solidFill>
                  <a:srgbClr val="FC0000"/>
                </a:solidFill>
              </a:rPr>
              <a:t>Choosing</a:t>
            </a:r>
            <a:r>
              <a:rPr spc="-80" dirty="0">
                <a:solidFill>
                  <a:srgbClr val="FC0000"/>
                </a:solidFill>
              </a:rPr>
              <a:t> </a:t>
            </a:r>
            <a:r>
              <a:rPr spc="-10" dirty="0">
                <a:solidFill>
                  <a:srgbClr val="FC0000"/>
                </a:solidFill>
              </a:rPr>
              <a:t>Communication Technologies</a:t>
            </a:r>
            <a:r>
              <a:rPr b="0" spc="-10" dirty="0">
                <a:solidFill>
                  <a:srgbClr val="FC0000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2249398"/>
            <a:ext cx="3593465" cy="24041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Audience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expectations.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Time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cost.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Nature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message.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Presentation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needs.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Work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environment.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2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What</a:t>
            </a:r>
            <a:r>
              <a:rPr sz="5000" b="0" spc="-55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is</a:t>
            </a:r>
            <a:r>
              <a:rPr sz="5000" b="0" spc="-75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Project</a:t>
            </a:r>
            <a:r>
              <a:rPr sz="5000" b="0" spc="-50" dirty="0">
                <a:latin typeface="Calibri"/>
                <a:cs typeface="Calibri"/>
              </a:rPr>
              <a:t> </a:t>
            </a:r>
            <a:r>
              <a:rPr sz="5000" b="0" spc="-10" dirty="0">
                <a:latin typeface="Calibri"/>
                <a:cs typeface="Calibri"/>
              </a:rPr>
              <a:t>Communication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47418"/>
            <a:ext cx="608647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Exchange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Project-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specific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information</a:t>
            </a:r>
            <a:endParaRPr sz="2600">
              <a:latin typeface="Constantia"/>
              <a:cs typeface="Constant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51293" y="2617704"/>
            <a:ext cx="3394710" cy="3278504"/>
            <a:chOff x="2851293" y="2617704"/>
            <a:chExt cx="3394710" cy="3278504"/>
          </a:xfrm>
        </p:grpSpPr>
        <p:sp>
          <p:nvSpPr>
            <p:cNvPr id="5" name="object 5"/>
            <p:cNvSpPr/>
            <p:nvPr/>
          </p:nvSpPr>
          <p:spPr>
            <a:xfrm>
              <a:off x="3061101" y="2834836"/>
              <a:ext cx="2961640" cy="2844165"/>
            </a:xfrm>
            <a:custGeom>
              <a:avLst/>
              <a:gdLst/>
              <a:ahLst/>
              <a:cxnLst/>
              <a:rect l="l" t="t" r="r" b="b"/>
              <a:pathLst>
                <a:path w="2961640" h="2844165">
                  <a:moveTo>
                    <a:pt x="2892152" y="0"/>
                  </a:moveTo>
                  <a:lnTo>
                    <a:pt x="0" y="25507"/>
                  </a:lnTo>
                  <a:lnTo>
                    <a:pt x="16601" y="2825722"/>
                  </a:lnTo>
                  <a:lnTo>
                    <a:pt x="2961483" y="2843819"/>
                  </a:lnTo>
                  <a:lnTo>
                    <a:pt x="2892152" y="0"/>
                  </a:lnTo>
                  <a:close/>
                </a:path>
              </a:pathLst>
            </a:custGeom>
            <a:solidFill>
              <a:srgbClr val="85D1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33559" y="2908579"/>
              <a:ext cx="2825750" cy="2731135"/>
            </a:xfrm>
            <a:custGeom>
              <a:avLst/>
              <a:gdLst/>
              <a:ahLst/>
              <a:cxnLst/>
              <a:rect l="l" t="t" r="r" b="b"/>
              <a:pathLst>
                <a:path w="2825750" h="2731135">
                  <a:moveTo>
                    <a:pt x="2267204" y="2730893"/>
                  </a:moveTo>
                  <a:lnTo>
                    <a:pt x="2249017" y="2714320"/>
                  </a:lnTo>
                  <a:lnTo>
                    <a:pt x="2199271" y="2664587"/>
                  </a:lnTo>
                  <a:lnTo>
                    <a:pt x="2120785" y="2587726"/>
                  </a:lnTo>
                  <a:lnTo>
                    <a:pt x="2022703" y="2488260"/>
                  </a:lnTo>
                  <a:lnTo>
                    <a:pt x="1900326" y="2369197"/>
                  </a:lnTo>
                  <a:lnTo>
                    <a:pt x="1615122" y="2090381"/>
                  </a:lnTo>
                  <a:lnTo>
                    <a:pt x="1296581" y="1787461"/>
                  </a:lnTo>
                  <a:lnTo>
                    <a:pt x="1135151" y="1636801"/>
                  </a:lnTo>
                  <a:lnTo>
                    <a:pt x="978052" y="1493520"/>
                  </a:lnTo>
                  <a:lnTo>
                    <a:pt x="828675" y="1359382"/>
                  </a:lnTo>
                  <a:lnTo>
                    <a:pt x="691311" y="1240345"/>
                  </a:lnTo>
                  <a:lnTo>
                    <a:pt x="569048" y="1142377"/>
                  </a:lnTo>
                  <a:lnTo>
                    <a:pt x="466420" y="1065606"/>
                  </a:lnTo>
                  <a:lnTo>
                    <a:pt x="389432" y="1017384"/>
                  </a:lnTo>
                  <a:lnTo>
                    <a:pt x="326034" y="991743"/>
                  </a:lnTo>
                  <a:lnTo>
                    <a:pt x="271691" y="979690"/>
                  </a:lnTo>
                  <a:lnTo>
                    <a:pt x="221881" y="982738"/>
                  </a:lnTo>
                  <a:lnTo>
                    <a:pt x="181127" y="996188"/>
                  </a:lnTo>
                  <a:lnTo>
                    <a:pt x="143383" y="1018908"/>
                  </a:lnTo>
                  <a:lnTo>
                    <a:pt x="111683" y="1048981"/>
                  </a:lnTo>
                  <a:lnTo>
                    <a:pt x="84531" y="1085151"/>
                  </a:lnTo>
                  <a:lnTo>
                    <a:pt x="45275" y="1166495"/>
                  </a:lnTo>
                  <a:lnTo>
                    <a:pt x="30187" y="1208747"/>
                  </a:lnTo>
                  <a:lnTo>
                    <a:pt x="18110" y="1247965"/>
                  </a:lnTo>
                  <a:lnTo>
                    <a:pt x="12065" y="1285659"/>
                  </a:lnTo>
                  <a:lnTo>
                    <a:pt x="4521" y="1317256"/>
                  </a:lnTo>
                  <a:lnTo>
                    <a:pt x="1498" y="1342885"/>
                  </a:lnTo>
                  <a:lnTo>
                    <a:pt x="0" y="1359382"/>
                  </a:lnTo>
                  <a:lnTo>
                    <a:pt x="0" y="1367002"/>
                  </a:lnTo>
                  <a:lnTo>
                    <a:pt x="7543" y="2730893"/>
                  </a:lnTo>
                  <a:lnTo>
                    <a:pt x="2267204" y="2730893"/>
                  </a:lnTo>
                  <a:close/>
                </a:path>
                <a:path w="2825750" h="2731135">
                  <a:moveTo>
                    <a:pt x="2825661" y="1760334"/>
                  </a:moveTo>
                  <a:lnTo>
                    <a:pt x="2768295" y="0"/>
                  </a:lnTo>
                  <a:lnTo>
                    <a:pt x="810564" y="0"/>
                  </a:lnTo>
                  <a:lnTo>
                    <a:pt x="2825661" y="1760334"/>
                  </a:lnTo>
                  <a:close/>
                </a:path>
              </a:pathLst>
            </a:custGeom>
            <a:solidFill>
              <a:srgbClr val="63B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22989" y="2913135"/>
              <a:ext cx="2833370" cy="2737485"/>
            </a:xfrm>
            <a:custGeom>
              <a:avLst/>
              <a:gdLst/>
              <a:ahLst/>
              <a:cxnLst/>
              <a:rect l="l" t="t" r="r" b="b"/>
              <a:pathLst>
                <a:path w="2833370" h="2737485">
                  <a:moveTo>
                    <a:pt x="451320" y="0"/>
                  </a:moveTo>
                  <a:lnTo>
                    <a:pt x="22643" y="16624"/>
                  </a:lnTo>
                  <a:lnTo>
                    <a:pt x="22643" y="269796"/>
                  </a:lnTo>
                  <a:lnTo>
                    <a:pt x="194722" y="420431"/>
                  </a:lnTo>
                  <a:lnTo>
                    <a:pt x="114719" y="434010"/>
                  </a:lnTo>
                  <a:lnTo>
                    <a:pt x="0" y="471700"/>
                  </a:lnTo>
                  <a:lnTo>
                    <a:pt x="12072" y="857487"/>
                  </a:lnTo>
                  <a:lnTo>
                    <a:pt x="173592" y="700761"/>
                  </a:lnTo>
                  <a:lnTo>
                    <a:pt x="335100" y="681218"/>
                  </a:lnTo>
                  <a:lnTo>
                    <a:pt x="572082" y="780710"/>
                  </a:lnTo>
                  <a:lnTo>
                    <a:pt x="2763732" y="2723312"/>
                  </a:lnTo>
                  <a:lnTo>
                    <a:pt x="2804567" y="2736878"/>
                  </a:lnTo>
                  <a:lnTo>
                    <a:pt x="2833190" y="2112944"/>
                  </a:lnTo>
                  <a:lnTo>
                    <a:pt x="451320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87893" y="2907170"/>
              <a:ext cx="2752090" cy="2488565"/>
            </a:xfrm>
            <a:custGeom>
              <a:avLst/>
              <a:gdLst/>
              <a:ahLst/>
              <a:cxnLst/>
              <a:rect l="l" t="t" r="r" b="b"/>
              <a:pathLst>
                <a:path w="2752090" h="2488565">
                  <a:moveTo>
                    <a:pt x="0" y="0"/>
                  </a:moveTo>
                  <a:lnTo>
                    <a:pt x="2751749" y="2488147"/>
                  </a:lnTo>
                  <a:lnTo>
                    <a:pt x="2751749" y="2429365"/>
                  </a:lnTo>
                  <a:lnTo>
                    <a:pt x="89060" y="19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618" y="2875445"/>
              <a:ext cx="2867880" cy="279416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8083" y="3763135"/>
              <a:ext cx="90574" cy="904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9597" y="4753300"/>
              <a:ext cx="89060" cy="8892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51293" y="2617704"/>
              <a:ext cx="3394675" cy="3277966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7138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Project</a:t>
            </a:r>
            <a:r>
              <a:rPr sz="4000" b="0" spc="-12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Communication</a:t>
            </a:r>
            <a:r>
              <a:rPr sz="4000" b="0" spc="-114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Management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08736" y="1947418"/>
            <a:ext cx="7809230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5880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Project  Communications</a:t>
            </a:r>
            <a:r>
              <a:rPr sz="2600" spc="1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Management</a:t>
            </a:r>
            <a:r>
              <a:rPr sz="2600" spc="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includes</a:t>
            </a:r>
            <a:r>
              <a:rPr sz="2600" spc="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the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processes</a:t>
            </a:r>
            <a:r>
              <a:rPr sz="2600" spc="40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required</a:t>
            </a:r>
            <a:r>
              <a:rPr sz="2600" spc="42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409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ensure</a:t>
            </a:r>
            <a:r>
              <a:rPr sz="2600" spc="41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timely</a:t>
            </a:r>
            <a:r>
              <a:rPr sz="2600" spc="405" dirty="0">
                <a:solidFill>
                  <a:srgbClr val="FFFFFF"/>
                </a:solidFill>
                <a:latin typeface="Constantia"/>
                <a:cs typeface="Constantia"/>
              </a:rPr>
              <a:t> 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appropriate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generation,</a:t>
            </a:r>
            <a:r>
              <a:rPr sz="2600" spc="3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collection,</a:t>
            </a:r>
            <a:r>
              <a:rPr sz="2600" spc="3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distribution,</a:t>
            </a:r>
            <a:r>
              <a:rPr sz="2600" spc="3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storage,</a:t>
            </a:r>
            <a:r>
              <a:rPr sz="2600" spc="3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retrieval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3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ultimate</a:t>
            </a:r>
            <a:r>
              <a:rPr sz="2600" spc="3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disposition</a:t>
            </a:r>
            <a:r>
              <a:rPr sz="2600" spc="3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43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project</a:t>
            </a:r>
            <a:r>
              <a:rPr sz="2600" spc="3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information.</a:t>
            </a:r>
            <a:r>
              <a:rPr sz="2600" spc="3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endParaRPr sz="26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8736" y="3532759"/>
            <a:ext cx="7806055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382395" algn="l"/>
                <a:tab pos="1434465" algn="l"/>
                <a:tab pos="2244090" algn="l"/>
                <a:tab pos="4204335" algn="l"/>
                <a:tab pos="644461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Project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Communications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Management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processes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provide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	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critical</a:t>
            </a:r>
            <a:endParaRPr sz="2600" dirty="0">
              <a:latin typeface="Constantia"/>
              <a:cs typeface="Constant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8578" y="3928694"/>
            <a:ext cx="71501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links</a:t>
            </a:r>
            <a:endParaRPr sz="2600">
              <a:latin typeface="Constantia"/>
              <a:cs typeface="Constant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0580" y="3928694"/>
            <a:ext cx="319659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45565" algn="l"/>
                <a:tab pos="264477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among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endParaRPr sz="2600">
              <a:latin typeface="Constantia"/>
              <a:cs typeface="Constant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736" y="4325492"/>
            <a:ext cx="3500754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98040" algn="l"/>
                <a:tab pos="304863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information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that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are</a:t>
            </a:r>
            <a:endParaRPr sz="2600">
              <a:latin typeface="Constantia"/>
              <a:cs typeface="Constant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2898" y="4325492"/>
            <a:ext cx="39560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3235" algn="l"/>
                <a:tab pos="252158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necessary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successful</a:t>
            </a:r>
            <a:endParaRPr sz="2600">
              <a:latin typeface="Constantia"/>
              <a:cs typeface="Constant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8736" y="4721733"/>
            <a:ext cx="25038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communications.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52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"/>
                <a:cs typeface="Calibri"/>
              </a:rPr>
              <a:t>What’s</a:t>
            </a:r>
            <a:r>
              <a:rPr sz="4400" b="0" spc="-10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in</a:t>
            </a:r>
            <a:r>
              <a:rPr sz="4400" b="0" spc="-7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it</a:t>
            </a:r>
            <a:r>
              <a:rPr sz="4400" b="0" spc="-7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for</a:t>
            </a:r>
            <a:r>
              <a:rPr sz="4400" b="0" spc="-7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a</a:t>
            </a:r>
            <a:r>
              <a:rPr sz="4400" b="0" spc="-6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Project</a:t>
            </a:r>
            <a:r>
              <a:rPr sz="4400" b="0" spc="-70" dirty="0">
                <a:latin typeface="Calibri"/>
                <a:cs typeface="Calibri"/>
              </a:rPr>
              <a:t> </a:t>
            </a:r>
            <a:r>
              <a:rPr sz="4400" b="0" spc="-10" dirty="0">
                <a:latin typeface="Calibri"/>
                <a:cs typeface="Calibri"/>
              </a:rPr>
              <a:t>Manager?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07794"/>
            <a:ext cx="7677784" cy="312674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5115" marR="1462405" indent="31750">
              <a:lnSpc>
                <a:spcPts val="2810"/>
              </a:lnSpc>
              <a:spcBef>
                <a:spcPts val="455"/>
              </a:spcBef>
            </a:pPr>
            <a:r>
              <a:rPr sz="2600" i="1" dirty="0">
                <a:solidFill>
                  <a:srgbClr val="FFFFFF"/>
                </a:solidFill>
                <a:latin typeface="Constantia"/>
                <a:cs typeface="Constantia"/>
              </a:rPr>
              <a:t>Three</a:t>
            </a:r>
            <a:r>
              <a:rPr sz="2600" i="1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i="1" dirty="0">
                <a:solidFill>
                  <a:srgbClr val="FFFFFF"/>
                </a:solidFill>
                <a:latin typeface="Constantia"/>
                <a:cs typeface="Constantia"/>
              </a:rPr>
              <a:t>reasons</a:t>
            </a:r>
            <a:r>
              <a:rPr sz="2600" i="1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i="1" dirty="0">
                <a:solidFill>
                  <a:srgbClr val="FFFFFF"/>
                </a:solidFill>
                <a:latin typeface="Constantia"/>
                <a:cs typeface="Constantia"/>
              </a:rPr>
              <a:t>you</a:t>
            </a:r>
            <a:r>
              <a:rPr sz="2600" i="1" spc="-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i="1" dirty="0">
                <a:solidFill>
                  <a:srgbClr val="FFFFFF"/>
                </a:solidFill>
                <a:latin typeface="Constantia"/>
                <a:cs typeface="Constantia"/>
              </a:rPr>
              <a:t>need</a:t>
            </a:r>
            <a:r>
              <a:rPr sz="2600" i="1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i="1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i="1" spc="-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i="1" dirty="0">
                <a:solidFill>
                  <a:srgbClr val="FFFFFF"/>
                </a:solidFill>
                <a:latin typeface="Constantia"/>
                <a:cs typeface="Constantia"/>
              </a:rPr>
              <a:t>manage</a:t>
            </a:r>
            <a:r>
              <a:rPr sz="2600" i="1" spc="-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i="1" spc="-10" dirty="0">
                <a:solidFill>
                  <a:srgbClr val="FFFFFF"/>
                </a:solidFill>
                <a:latin typeface="Constantia"/>
                <a:cs typeface="Constantia"/>
              </a:rPr>
              <a:t>project Communication</a:t>
            </a:r>
            <a:endParaRPr sz="26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2600">
              <a:latin typeface="Constantia"/>
              <a:cs typeface="Constantia"/>
            </a:endParaRPr>
          </a:p>
          <a:p>
            <a:pPr marL="285115" marR="1218565" indent="-274955">
              <a:lnSpc>
                <a:spcPts val="281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Meet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information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needs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your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project stakeholders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(Communications</a:t>
            </a:r>
            <a:r>
              <a:rPr sz="1800" spc="-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Planning</a:t>
            </a:r>
            <a:r>
              <a:rPr sz="18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Managing)</a:t>
            </a:r>
            <a:endParaRPr sz="1800">
              <a:latin typeface="Constantia"/>
              <a:cs typeface="Constantia"/>
            </a:endParaRPr>
          </a:p>
          <a:p>
            <a:pPr marL="285750" indent="-274955">
              <a:lnSpc>
                <a:spcPts val="3035"/>
              </a:lnSpc>
              <a:spcBef>
                <a:spcPts val="27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Track</a:t>
            </a:r>
            <a:r>
              <a:rPr sz="26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report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on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project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performance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(Monitoring</a:t>
            </a:r>
            <a:endParaRPr sz="1800">
              <a:latin typeface="Constantia"/>
              <a:cs typeface="Constantia"/>
            </a:endParaRPr>
          </a:p>
          <a:p>
            <a:pPr marL="285115">
              <a:lnSpc>
                <a:spcPts val="2075"/>
              </a:lnSpc>
            </a:pP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Communications)</a:t>
            </a:r>
            <a:endParaRPr sz="18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26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Formally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document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project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results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nstantia"/>
                <a:cs typeface="Constantia"/>
              </a:rPr>
              <a:t>(Administrative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Closure)</a:t>
            </a:r>
            <a:endParaRPr sz="18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717549"/>
            <a:ext cx="77730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Project</a:t>
            </a:r>
            <a:r>
              <a:rPr sz="4000" b="0" spc="-180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Communication</a:t>
            </a:r>
            <a:r>
              <a:rPr sz="4000" b="0" spc="-175" dirty="0">
                <a:latin typeface="Calibri"/>
                <a:cs typeface="Calibri"/>
              </a:rPr>
              <a:t> </a:t>
            </a:r>
            <a:r>
              <a:rPr sz="4000" b="0" i="1" spc="-10" dirty="0">
                <a:latin typeface="Calibri"/>
                <a:cs typeface="Calibri"/>
              </a:rPr>
              <a:t>Management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111" y="2047620"/>
            <a:ext cx="6972300" cy="4525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96872" y="2588768"/>
            <a:ext cx="105283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445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DBF5F8"/>
                </a:solidFill>
                <a:latin typeface="Times New Roman"/>
                <a:cs typeface="Times New Roman"/>
              </a:rPr>
              <a:t>Initiating Processes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083811" y="2588768"/>
            <a:ext cx="105283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DBF5F8"/>
                </a:solidFill>
                <a:latin typeface="Times New Roman"/>
                <a:cs typeface="Times New Roman"/>
              </a:rPr>
              <a:t>Planning Processes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61609" y="4684902"/>
            <a:ext cx="12801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5080" indent="-1143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DBF5F8"/>
                </a:solidFill>
                <a:latin typeface="Times New Roman"/>
                <a:cs typeface="Times New Roman"/>
              </a:rPr>
              <a:t>Controlling Processes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64654" y="5523077"/>
            <a:ext cx="105346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DBF5F8"/>
                </a:solidFill>
                <a:latin typeface="Times New Roman"/>
                <a:cs typeface="Times New Roman"/>
              </a:rPr>
              <a:t>Closing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DBF5F8"/>
                </a:solidFill>
                <a:latin typeface="Times New Roman"/>
                <a:cs typeface="Times New Roman"/>
              </a:rPr>
              <a:t>Processes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3348" y="1317701"/>
            <a:ext cx="27222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Plan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Communications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3348" y="1684146"/>
            <a:ext cx="1615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8747" y="1546986"/>
            <a:ext cx="2327910" cy="1572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 smtClean="0">
                <a:solidFill>
                  <a:srgbClr val="FFFFFF"/>
                </a:solidFill>
                <a:latin typeface="Times New Roman"/>
                <a:cs typeface="Times New Roman"/>
              </a:rPr>
              <a:t>Manage Communication </a:t>
            </a:r>
            <a:endParaRPr sz="2400" dirty="0" smtClean="0">
              <a:latin typeface="Times New Roman"/>
              <a:cs typeface="Times New Roman"/>
            </a:endParaRPr>
          </a:p>
          <a:p>
            <a:pPr marL="12700">
              <a:lnSpc>
                <a:spcPts val="1964"/>
              </a:lnSpc>
            </a:pPr>
            <a:endParaRPr sz="2000" b="1" spc="-10" dirty="0" smtClean="0">
              <a:solidFill>
                <a:srgbClr val="DBF5F8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1964"/>
              </a:lnSpc>
            </a:pPr>
            <a:r>
              <a:rPr sz="2000" b="1" spc="-10" dirty="0" smtClean="0">
                <a:solidFill>
                  <a:srgbClr val="DBF5F8"/>
                </a:solidFill>
                <a:latin typeface="Times New Roman"/>
                <a:cs typeface="Times New Roman"/>
              </a:rPr>
              <a:t>Executing</a:t>
            </a:r>
            <a:endParaRPr sz="2000" dirty="0" smtClean="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</a:pPr>
            <a:r>
              <a:rPr sz="2000" b="1" spc="-10" dirty="0" smtClean="0">
                <a:solidFill>
                  <a:srgbClr val="DBF5F8"/>
                </a:solidFill>
                <a:latin typeface="Times New Roman"/>
                <a:cs typeface="Times New Roman"/>
              </a:rPr>
              <a:t>Processes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27703" y="5586476"/>
            <a:ext cx="21050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Monitor Communications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90409" y="4443221"/>
            <a:ext cx="18548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Administrative Closure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2044" y="4060697"/>
            <a:ext cx="266128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View</a:t>
            </a:r>
            <a:r>
              <a:rPr sz="28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Project </a:t>
            </a:r>
            <a:r>
              <a:rPr sz="2800" i="1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800" i="1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context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five</a:t>
            </a:r>
            <a:r>
              <a:rPr sz="2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PM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process groups.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990600"/>
            <a:ext cx="8763000" cy="4495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641349"/>
            <a:ext cx="77698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Importance</a:t>
            </a:r>
            <a:r>
              <a:rPr sz="4000" b="0" spc="-9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of</a:t>
            </a:r>
            <a:r>
              <a:rPr sz="4000" b="0" spc="-9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Good</a:t>
            </a:r>
            <a:r>
              <a:rPr sz="4000" b="0" spc="-9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Communications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688719"/>
            <a:ext cx="7898130" cy="39103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617855" indent="-273050">
              <a:lnSpc>
                <a:spcPct val="100000"/>
              </a:lnSpc>
              <a:spcBef>
                <a:spcPts val="10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greatest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threat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many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projects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is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failure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to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communicate.</a:t>
            </a:r>
            <a:endParaRPr sz="2600">
              <a:latin typeface="Constantia"/>
              <a:cs typeface="Constantia"/>
            </a:endParaRPr>
          </a:p>
          <a:p>
            <a:pPr marL="285115" marR="5080" indent="-273050">
              <a:lnSpc>
                <a:spcPct val="100000"/>
              </a:lnSpc>
              <a:spcBef>
                <a:spcPts val="1870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Our</a:t>
            </a:r>
            <a:r>
              <a:rPr sz="2600" spc="-1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culture</a:t>
            </a:r>
            <a:r>
              <a:rPr sz="2600" spc="-1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does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not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portray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IT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professionals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as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being good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communicators.</a:t>
            </a:r>
            <a:endParaRPr sz="2600">
              <a:latin typeface="Constantia"/>
              <a:cs typeface="Constantia"/>
            </a:endParaRPr>
          </a:p>
          <a:p>
            <a:pPr marL="285115" marR="27940" indent="-273050">
              <a:lnSpc>
                <a:spcPct val="100000"/>
              </a:lnSpc>
              <a:spcBef>
                <a:spcPts val="187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Research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shows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that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IT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professionals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must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be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able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to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communicate</a:t>
            </a:r>
            <a:r>
              <a:rPr sz="2600" spc="-1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effectively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succeed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their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positions.</a:t>
            </a:r>
            <a:endParaRPr sz="2600">
              <a:latin typeface="Constantia"/>
              <a:cs typeface="Constantia"/>
            </a:endParaRPr>
          </a:p>
          <a:p>
            <a:pPr marL="285115" marR="1424305" indent="-273050">
              <a:lnSpc>
                <a:spcPct val="100000"/>
              </a:lnSpc>
              <a:spcBef>
                <a:spcPts val="187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Strong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verbal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skills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are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key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factor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career advancement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IT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professionals.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673684"/>
            <a:ext cx="808100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libri"/>
                <a:cs typeface="Calibri"/>
              </a:rPr>
              <a:t>Project</a:t>
            </a:r>
            <a:r>
              <a:rPr b="0" spc="-1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Communications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Management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Processes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690242"/>
            <a:ext cx="8302625" cy="419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marR="5080" indent="-271780" algn="just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3750"/>
              <a:buFont typeface="Arial MT"/>
              <a:buChar char="•"/>
              <a:tabLst>
                <a:tab pos="285115" algn="l"/>
              </a:tabLs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r>
              <a:rPr sz="240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Communications</a:t>
            </a:r>
            <a:r>
              <a:rPr sz="24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24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developing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400" spc="13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approach</a:t>
            </a:r>
            <a:r>
              <a:rPr sz="2400" spc="13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13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r>
              <a:rPr sz="2400" spc="1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13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400" spc="13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project-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400" spc="1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communication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activities</a:t>
            </a:r>
            <a:r>
              <a:rPr sz="2400" spc="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400" spc="2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400" spc="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2400" spc="2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2400" spc="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400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stakeholder,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r>
              <a:rPr sz="2400" spc="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resources</a:t>
            </a:r>
            <a:r>
              <a:rPr sz="2400" spc="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organization,</a:t>
            </a:r>
            <a:r>
              <a:rPr sz="2400" spc="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2400" spc="5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a 	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project.</a:t>
            </a:r>
            <a:endParaRPr sz="2400">
              <a:latin typeface="Calibri"/>
              <a:cs typeface="Calibri"/>
            </a:endParaRPr>
          </a:p>
          <a:p>
            <a:pPr marL="283845" marR="5080" indent="-271780" algn="just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Arial MT"/>
              <a:buChar char="•"/>
              <a:tabLst>
                <a:tab pos="285115" algn="l"/>
              </a:tabLs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2400" b="1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Communications</a:t>
            </a:r>
            <a:r>
              <a:rPr sz="2400" b="1" spc="3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2400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3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creating,</a:t>
            </a:r>
            <a:r>
              <a:rPr sz="2400" spc="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collecting,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distributing,</a:t>
            </a:r>
            <a:r>
              <a:rPr sz="2400" spc="3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storing,</a:t>
            </a:r>
            <a:r>
              <a:rPr sz="2400" spc="32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accessing,</a:t>
            </a:r>
            <a:r>
              <a:rPr sz="2400" spc="32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managing,</a:t>
            </a:r>
            <a:r>
              <a:rPr sz="2400" spc="31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monitoring,</a:t>
            </a:r>
            <a:r>
              <a:rPr sz="2400" spc="3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and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disposing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information.</a:t>
            </a:r>
            <a:endParaRPr sz="2400">
              <a:latin typeface="Calibri"/>
              <a:cs typeface="Calibri"/>
            </a:endParaRPr>
          </a:p>
          <a:p>
            <a:pPr marL="283845" marR="6350" indent="-271780" algn="just">
              <a:lnSpc>
                <a:spcPct val="10000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Arial MT"/>
              <a:buChar char="•"/>
              <a:tabLst>
                <a:tab pos="285115" algn="l"/>
              </a:tabLs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Monitor</a:t>
            </a:r>
            <a:r>
              <a:rPr sz="2400" b="1" spc="7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Communications:</a:t>
            </a:r>
            <a:r>
              <a:rPr sz="2400" b="1" spc="7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7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2400" spc="6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7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ensuring</a:t>
            </a:r>
            <a:r>
              <a:rPr sz="2400" spc="7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400" spc="6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the 	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stakeholders,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project,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met.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305509"/>
            <a:ext cx="807275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Generally,</a:t>
            </a:r>
            <a:r>
              <a:rPr sz="2800" b="0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0" spc="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2800" b="0" spc="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r>
              <a:rPr sz="2800" b="0" spc="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r>
              <a:rPr sz="2800" b="0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spc="-20" dirty="0">
                <a:solidFill>
                  <a:srgbClr val="FFFFFF"/>
                </a:solidFill>
                <a:latin typeface="Calibri"/>
                <a:cs typeface="Calibri"/>
              </a:rPr>
              <a:t>plan </a:t>
            </a: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2800" b="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r>
              <a:rPr sz="2800" b="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sz="2800" b="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800" b="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Calibri"/>
                <a:cs typeface="Calibri"/>
              </a:rPr>
              <a:t>questions: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161514"/>
            <a:ext cx="6909434" cy="287972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b="1" dirty="0">
                <a:solidFill>
                  <a:srgbClr val="FFFFFF"/>
                </a:solidFill>
                <a:latin typeface="Constantia"/>
                <a:cs typeface="Constantia"/>
              </a:rPr>
              <a:t>Who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?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Who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needs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know?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b="1" dirty="0">
                <a:solidFill>
                  <a:srgbClr val="FFFFFF"/>
                </a:solidFill>
                <a:latin typeface="Constantia"/>
                <a:cs typeface="Constantia"/>
              </a:rPr>
              <a:t>What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?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What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do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they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need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know?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b="1" dirty="0">
                <a:solidFill>
                  <a:srgbClr val="FFFFFF"/>
                </a:solidFill>
                <a:latin typeface="Constantia"/>
                <a:cs typeface="Constantia"/>
              </a:rPr>
              <a:t>When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?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How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frequently?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b="1" dirty="0">
                <a:solidFill>
                  <a:srgbClr val="FFFFFF"/>
                </a:solidFill>
                <a:latin typeface="Constantia"/>
                <a:cs typeface="Constantia"/>
              </a:rPr>
              <a:t>Where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?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Where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are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communications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required?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b="1" dirty="0">
                <a:solidFill>
                  <a:srgbClr val="FFFFFF"/>
                </a:solidFill>
                <a:latin typeface="Constantia"/>
                <a:cs typeface="Constantia"/>
              </a:rPr>
              <a:t>Why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?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Why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is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this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important?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b="1" dirty="0">
                <a:solidFill>
                  <a:srgbClr val="FFFFFF"/>
                </a:solidFill>
                <a:latin typeface="Constantia"/>
                <a:cs typeface="Constantia"/>
              </a:rPr>
              <a:t>How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?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How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are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they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kept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informed?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1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/>
              <a:t>Who?</a:t>
            </a:r>
            <a:r>
              <a:rPr sz="4500" spc="-160" dirty="0"/>
              <a:t> </a:t>
            </a:r>
            <a:r>
              <a:rPr sz="4500" spc="-10" dirty="0"/>
              <a:t>Stakeholder</a:t>
            </a:r>
            <a:r>
              <a:rPr sz="4500" spc="-160" dirty="0"/>
              <a:t> </a:t>
            </a:r>
            <a:r>
              <a:rPr sz="4500" spc="-10" dirty="0"/>
              <a:t>Identification</a:t>
            </a:r>
            <a:endParaRPr sz="4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47418"/>
            <a:ext cx="7875905" cy="39103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Did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you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think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everyone?</a:t>
            </a:r>
            <a:endParaRPr sz="26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600">
              <a:latin typeface="Constantia"/>
              <a:cs typeface="Constantia"/>
            </a:endParaRPr>
          </a:p>
          <a:p>
            <a:pPr marL="285115" marR="280670" indent="-273050">
              <a:lnSpc>
                <a:spcPct val="100000"/>
              </a:lnSpc>
              <a:tabLst>
                <a:tab pos="416559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If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you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are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designing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application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this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project, 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have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you</a:t>
            </a:r>
            <a:r>
              <a:rPr sz="2600" spc="-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included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end-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users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early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project communications?</a:t>
            </a:r>
            <a:endParaRPr sz="2600">
              <a:latin typeface="Constantia"/>
              <a:cs typeface="Constantia"/>
            </a:endParaRPr>
          </a:p>
          <a:p>
            <a:pPr marL="285115" marR="5080" indent="-273050">
              <a:lnSpc>
                <a:spcPct val="100000"/>
              </a:lnSpc>
              <a:spcBef>
                <a:spcPts val="625"/>
              </a:spcBef>
              <a:tabLst>
                <a:tab pos="416559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If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 your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end-user</a:t>
            </a:r>
            <a:r>
              <a:rPr sz="2600" spc="-1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works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another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organization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such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as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local</a:t>
            </a:r>
            <a:r>
              <a:rPr sz="26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or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city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government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or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voluntary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agency, 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have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you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also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kept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IT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those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entities</a:t>
            </a:r>
            <a:endParaRPr sz="2600">
              <a:latin typeface="Constantia"/>
              <a:cs typeface="Constantia"/>
            </a:endParaRPr>
          </a:p>
          <a:p>
            <a:pPr marL="342900">
              <a:lnSpc>
                <a:spcPct val="100000"/>
              </a:lnSpc>
              <a:spcBef>
                <a:spcPts val="625"/>
              </a:spcBef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informed?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2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/>
              <a:t>What?</a:t>
            </a:r>
            <a:r>
              <a:rPr sz="5000" spc="-100" dirty="0"/>
              <a:t> </a:t>
            </a:r>
            <a:r>
              <a:rPr sz="5000" spc="-10" dirty="0"/>
              <a:t>Stakeholder</a:t>
            </a:r>
            <a:r>
              <a:rPr sz="5000" spc="-145" dirty="0"/>
              <a:t> </a:t>
            </a:r>
            <a:r>
              <a:rPr sz="5000" spc="-10" dirty="0"/>
              <a:t>Analysis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47418"/>
            <a:ext cx="8056245" cy="2562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129539" indent="-274955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Tendency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send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too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much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too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many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–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very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easy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to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do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with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electronic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communications!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Too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much</a:t>
            </a:r>
            <a:r>
              <a:rPr sz="2600" spc="-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is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as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bad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as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too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little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–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can’t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read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everything.</a:t>
            </a:r>
            <a:endParaRPr sz="26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Clr>
                <a:srgbClr val="0AD0D9"/>
              </a:buClr>
              <a:buFont typeface="Segoe UI Symbol"/>
              <a:buChar char="⚫"/>
            </a:pPr>
            <a:endParaRPr sz="2600">
              <a:latin typeface="Constantia"/>
              <a:cs typeface="Constantia"/>
            </a:endParaRPr>
          </a:p>
          <a:p>
            <a:pPr marL="285115" marR="5080" indent="-274955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spc="-65" dirty="0">
                <a:solidFill>
                  <a:srgbClr val="FFFFFF"/>
                </a:solidFill>
                <a:latin typeface="Constantia"/>
                <a:cs typeface="Constantia"/>
              </a:rPr>
              <a:t>Target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your</a:t>
            </a:r>
            <a:r>
              <a:rPr sz="2600" spc="-1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audiences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–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realize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you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may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have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more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than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one.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2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When</a:t>
            </a:r>
            <a:r>
              <a:rPr sz="5000" b="0" spc="-40" dirty="0">
                <a:latin typeface="Calibri"/>
                <a:cs typeface="Calibri"/>
              </a:rPr>
              <a:t> </a:t>
            </a:r>
            <a:r>
              <a:rPr sz="5000" b="0" spc="-50" dirty="0">
                <a:latin typeface="Calibri"/>
                <a:cs typeface="Calibri"/>
              </a:rPr>
              <a:t>?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868779"/>
            <a:ext cx="6353810" cy="39497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409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How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often?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Morning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&amp;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afternoon?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31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Day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 week?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31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Day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month?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Different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intervals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various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stakeholders</a:t>
            </a:r>
            <a:endParaRPr sz="2600">
              <a:latin typeface="Constantia"/>
              <a:cs typeface="Constantia"/>
            </a:endParaRPr>
          </a:p>
          <a:p>
            <a:pPr marL="527050" lvl="1" indent="-241935">
              <a:lnSpc>
                <a:spcPct val="100000"/>
              </a:lnSpc>
              <a:spcBef>
                <a:spcPts val="315"/>
              </a:spcBef>
              <a:buChar char="–"/>
              <a:tabLst>
                <a:tab pos="527050" algn="l"/>
              </a:tabLst>
            </a:pP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Weekly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team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members</a:t>
            </a:r>
            <a:endParaRPr sz="2600">
              <a:latin typeface="Constantia"/>
              <a:cs typeface="Constantia"/>
            </a:endParaRPr>
          </a:p>
          <a:p>
            <a:pPr marL="531495" lvl="1" indent="-246379">
              <a:lnSpc>
                <a:spcPct val="100000"/>
              </a:lnSpc>
              <a:spcBef>
                <a:spcPts val="310"/>
              </a:spcBef>
              <a:buChar char="–"/>
              <a:tabLst>
                <a:tab pos="53149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Bi-weekly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sponsor</a:t>
            </a:r>
            <a:endParaRPr sz="2600">
              <a:latin typeface="Constantia"/>
              <a:cs typeface="Constantia"/>
            </a:endParaRPr>
          </a:p>
          <a:p>
            <a:pPr marL="531495" lvl="1" indent="-246379">
              <a:lnSpc>
                <a:spcPct val="100000"/>
              </a:lnSpc>
              <a:spcBef>
                <a:spcPts val="315"/>
              </a:spcBef>
              <a:buChar char="–"/>
              <a:tabLst>
                <a:tab pos="53149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Monthly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Executives</a:t>
            </a:r>
            <a:endParaRPr sz="2600">
              <a:latin typeface="Constantia"/>
              <a:cs typeface="Constantia"/>
            </a:endParaRPr>
          </a:p>
          <a:p>
            <a:pPr marL="531495" lvl="1" indent="-246379">
              <a:lnSpc>
                <a:spcPct val="100000"/>
              </a:lnSpc>
              <a:spcBef>
                <a:spcPts val="315"/>
              </a:spcBef>
              <a:buChar char="–"/>
              <a:tabLst>
                <a:tab pos="531495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Etc.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2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Where</a:t>
            </a:r>
            <a:r>
              <a:rPr sz="5000" b="0" spc="-100" dirty="0">
                <a:latin typeface="Calibri"/>
                <a:cs typeface="Calibri"/>
              </a:rPr>
              <a:t> </a:t>
            </a:r>
            <a:r>
              <a:rPr sz="5000" b="0" spc="-50" dirty="0">
                <a:latin typeface="Calibri"/>
                <a:cs typeface="Calibri"/>
              </a:rPr>
              <a:t>?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868779"/>
            <a:ext cx="7487920" cy="18484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Location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status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meetings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Location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team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meetings</a:t>
            </a:r>
            <a:endParaRPr sz="2600">
              <a:latin typeface="Constantia"/>
              <a:cs typeface="Constantia"/>
            </a:endParaRPr>
          </a:p>
          <a:p>
            <a:pPr marL="285115" marR="5080" indent="-27495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Locations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information: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Network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drive,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website,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internal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or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external,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Email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attachments,</a:t>
            </a:r>
            <a:r>
              <a:rPr sz="26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Email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text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2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Why</a:t>
            </a:r>
            <a:r>
              <a:rPr sz="5000" b="0" spc="-105" dirty="0">
                <a:latin typeface="Calibri"/>
                <a:cs typeface="Calibri"/>
              </a:rPr>
              <a:t> </a:t>
            </a:r>
            <a:r>
              <a:rPr sz="5000" b="0" spc="-50" dirty="0">
                <a:latin typeface="Calibri"/>
                <a:cs typeface="Calibri"/>
              </a:rPr>
              <a:t>?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868779"/>
            <a:ext cx="7004684" cy="240347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Curiosity?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Good/bad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Need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know?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Provide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information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Prepare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end-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users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transition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MANY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REASONS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SHARE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INFORMATION!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2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How</a:t>
            </a:r>
            <a:r>
              <a:rPr sz="5000" b="0" spc="-30" dirty="0">
                <a:latin typeface="Calibri"/>
                <a:cs typeface="Calibri"/>
              </a:rPr>
              <a:t> </a:t>
            </a:r>
            <a:r>
              <a:rPr sz="5000" b="0" spc="-50" dirty="0">
                <a:latin typeface="Calibri"/>
                <a:cs typeface="Calibri"/>
              </a:rPr>
              <a:t>?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868779"/>
            <a:ext cx="3653790" cy="3354704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Emails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Status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reports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Phone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calls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Meetings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Face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face,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one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on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one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Press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release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Other?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15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Plan</a:t>
            </a:r>
            <a:r>
              <a:rPr sz="4000" b="0" spc="-9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Communications</a:t>
            </a:r>
            <a:r>
              <a:rPr sz="4000" b="0" spc="-6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Management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180590"/>
            <a:ext cx="8094980" cy="346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marR="5080" indent="-271780" algn="just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During</a:t>
            </a:r>
            <a:r>
              <a:rPr sz="2400" spc="-5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plan</a:t>
            </a:r>
            <a:r>
              <a:rPr sz="2400" spc="-4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communications</a:t>
            </a:r>
            <a:r>
              <a:rPr sz="2400" spc="-4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spc="-45" dirty="0">
                <a:solidFill>
                  <a:srgbClr val="FFFFFF"/>
                </a:solidFill>
                <a:latin typeface="Tahoma"/>
                <a:cs typeface="Tahoma"/>
              </a:rPr>
              <a:t>process, 	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managers,</a:t>
            </a:r>
            <a:r>
              <a:rPr sz="24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together</a:t>
            </a:r>
            <a:r>
              <a:rPr sz="2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4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4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team,</a:t>
            </a:r>
            <a:r>
              <a:rPr sz="24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develop 	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spc="29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400" b="1" spc="33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400" b="1" spc="34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plan</a:t>
            </a:r>
            <a:r>
              <a:rPr sz="2400" b="1" spc="33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400" spc="29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details</a:t>
            </a:r>
            <a:r>
              <a:rPr sz="2400" spc="2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your 	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4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4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approach.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0"/>
              </a:spcBef>
              <a:buClr>
                <a:srgbClr val="0AD0D9"/>
              </a:buClr>
              <a:buFont typeface="Segoe UI Symbol"/>
              <a:buChar char="⚫"/>
            </a:pPr>
            <a:endParaRPr sz="2400">
              <a:latin typeface="Tahoma"/>
              <a:cs typeface="Tahoma"/>
            </a:endParaRPr>
          </a:p>
          <a:p>
            <a:pPr marL="283845" marR="27305" indent="-271780" algn="just">
              <a:lnSpc>
                <a:spcPct val="100000"/>
              </a:lnSpc>
              <a:buClr>
                <a:srgbClr val="0AD0D9"/>
              </a:buClr>
              <a:buSzPct val="93750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9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group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should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specify</a:t>
            </a:r>
            <a:r>
              <a:rPr sz="2400" spc="4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how</a:t>
            </a: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intends</a:t>
            </a:r>
            <a:r>
              <a:rPr sz="2400" spc="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address 	</a:t>
            </a:r>
            <a:r>
              <a:rPr sz="2400" spc="-35" dirty="0">
                <a:solidFill>
                  <a:srgbClr val="FFFFFF"/>
                </a:solidFill>
                <a:latin typeface="Tahoma"/>
                <a:cs typeface="Tahoma"/>
              </a:rPr>
              <a:t>stakeholders’</a:t>
            </a:r>
            <a:r>
              <a:rPr sz="24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4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needs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throughout</a:t>
            </a:r>
            <a:r>
              <a:rPr sz="24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project 	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sz="2400" spc="4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assets</a:t>
            </a:r>
            <a:r>
              <a:rPr sz="2400" spc="4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available</a:t>
            </a:r>
            <a:r>
              <a:rPr sz="2400" spc="4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within</a:t>
            </a:r>
            <a:r>
              <a:rPr sz="2400" spc="4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4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organization.</a:t>
            </a:r>
            <a:r>
              <a:rPr sz="2400" spc="2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Different 	</a:t>
            </a:r>
            <a:r>
              <a:rPr sz="2400" spc="-35" dirty="0">
                <a:solidFill>
                  <a:srgbClr val="FFFFFF"/>
                </a:solidFill>
                <a:latin typeface="Tahoma"/>
                <a:cs typeface="Tahoma"/>
              </a:rPr>
              <a:t>stakeholders</a:t>
            </a:r>
            <a:r>
              <a:rPr sz="2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different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expectations.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845565"/>
            <a:ext cx="74930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latin typeface="Calibri"/>
                <a:cs typeface="Calibri"/>
              </a:rPr>
              <a:t>Communications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Management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Plan</a:t>
            </a:r>
            <a:r>
              <a:rPr b="0" spc="-1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Contents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543938"/>
            <a:ext cx="8301990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4480" indent="-271780" algn="just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3750"/>
              <a:buFont typeface="Arial MT"/>
              <a:buChar char="•"/>
              <a:tabLst>
                <a:tab pos="284480" algn="l"/>
              </a:tabLst>
            </a:pPr>
            <a:r>
              <a:rPr sz="2400" spc="-4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Tahoma"/>
                <a:cs typeface="Tahoma"/>
              </a:rPr>
              <a:t>message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4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r>
              <a:rPr sz="24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24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communicated</a:t>
            </a:r>
            <a:endParaRPr sz="2400">
              <a:latin typeface="Tahoma"/>
              <a:cs typeface="Tahoma"/>
            </a:endParaRPr>
          </a:p>
          <a:p>
            <a:pPr marL="284480" indent="-271780" algn="just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Arial MT"/>
              <a:buChar char="•"/>
              <a:tabLst>
                <a:tab pos="284480" algn="l"/>
              </a:tabLst>
            </a:pPr>
            <a:r>
              <a:rPr sz="2400" spc="-35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distribution</a:t>
            </a:r>
            <a:r>
              <a:rPr sz="24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Tahoma"/>
                <a:cs typeface="Tahoma"/>
              </a:rPr>
              <a:t>frequency</a:t>
            </a:r>
            <a:r>
              <a:rPr sz="24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schedule</a:t>
            </a:r>
            <a:endParaRPr sz="2400">
              <a:latin typeface="Tahoma"/>
              <a:cs typeface="Tahoma"/>
            </a:endParaRPr>
          </a:p>
          <a:p>
            <a:pPr marL="283845" marR="5080" indent="-271780" algn="just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Arial MT"/>
              <a:buChar char="•"/>
              <a:tabLst>
                <a:tab pos="285115" algn="l"/>
              </a:tabLst>
            </a:pP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4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modes,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Tahoma"/>
                <a:cs typeface="Tahoma"/>
              </a:rPr>
              <a:t>such</a:t>
            </a:r>
            <a:r>
              <a:rPr sz="2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2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Tahoma"/>
                <a:cs typeface="Tahoma"/>
              </a:rPr>
              <a:t>email,</a:t>
            </a:r>
            <a:r>
              <a:rPr sz="2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text</a:t>
            </a:r>
            <a:r>
              <a:rPr sz="2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messages,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15" dirty="0">
                <a:solidFill>
                  <a:srgbClr val="FFFFFF"/>
                </a:solidFill>
                <a:latin typeface="Tahoma"/>
                <a:cs typeface="Tahoma"/>
              </a:rPr>
              <a:t>face-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to- 	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face</a:t>
            </a:r>
            <a:r>
              <a:rPr sz="2400" b="1" spc="17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spc="-135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400" spc="-135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meetings,</a:t>
            </a: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reports</a:t>
            </a:r>
            <a:r>
              <a:rPr sz="2400" spc="13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400" spc="1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13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status 	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4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95" dirty="0">
                <a:solidFill>
                  <a:srgbClr val="FFFFFF"/>
                </a:solidFill>
                <a:latin typeface="Tahoma"/>
                <a:cs typeface="Tahoma"/>
              </a:rPr>
              <a:t>deliverables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4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4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Tahoma"/>
                <a:cs typeface="Tahoma"/>
              </a:rPr>
              <a:t>milestones,</a:t>
            </a:r>
            <a:r>
              <a:rPr sz="2400" spc="-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etc.</a:t>
            </a:r>
            <a:endParaRPr sz="2400">
              <a:latin typeface="Tahoma"/>
              <a:cs typeface="Tahoma"/>
            </a:endParaRPr>
          </a:p>
          <a:p>
            <a:pPr marL="284480" indent="-271780" algn="just">
              <a:lnSpc>
                <a:spcPct val="10000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Arial MT"/>
              <a:buChar char="•"/>
              <a:tabLst>
                <a:tab pos="284480" algn="l"/>
              </a:tabLst>
            </a:pPr>
            <a:r>
              <a:rPr sz="2400" spc="-4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stakeholders</a:t>
            </a:r>
            <a:r>
              <a:rPr sz="2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who</a:t>
            </a:r>
            <a:r>
              <a:rPr sz="24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24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receiving</a:t>
            </a:r>
            <a:r>
              <a:rPr sz="24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endParaRPr sz="2400">
              <a:latin typeface="Tahoma"/>
              <a:cs typeface="Tahoma"/>
            </a:endParaRPr>
          </a:p>
          <a:p>
            <a:pPr marL="283845" marR="5080" indent="-271780" algn="just">
              <a:lnSpc>
                <a:spcPct val="10000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Arial MT"/>
              <a:buChar char="•"/>
              <a:tabLst>
                <a:tab pos="285115" algn="l"/>
              </a:tabLst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member(s)</a:t>
            </a:r>
            <a:r>
              <a:rPr sz="24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responsible</a:t>
            </a: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24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delivering</a:t>
            </a:r>
            <a:r>
              <a:rPr sz="24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and 	</a:t>
            </a: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responding</a:t>
            </a:r>
            <a:r>
              <a:rPr sz="24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sz="24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4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requests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8892" y="4909261"/>
            <a:ext cx="39039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9165" algn="l"/>
                <a:tab pos="2184400" algn="l"/>
                <a:tab pos="3528695" algn="l"/>
              </a:tabLst>
            </a:pP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(e.g.,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budget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allotted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0" y="4909261"/>
            <a:ext cx="409447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415" marR="5080" indent="-272415" algn="r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3750"/>
              <a:buFont typeface="Arial MT"/>
              <a:buChar char="•"/>
              <a:tabLst>
                <a:tab pos="272415" algn="l"/>
                <a:tab pos="2641600" algn="l"/>
              </a:tabLst>
            </a:pP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constraints</a:t>
            </a:r>
            <a:endParaRPr sz="2400">
              <a:latin typeface="Tahoma"/>
              <a:cs typeface="Tahoma"/>
            </a:endParaRPr>
          </a:p>
          <a:p>
            <a:pPr marR="95885" algn="r">
              <a:lnSpc>
                <a:spcPct val="100000"/>
              </a:lnSpc>
              <a:spcBef>
                <a:spcPts val="5"/>
              </a:spcBef>
              <a:tabLst>
                <a:tab pos="2475230" algn="l"/>
              </a:tabLst>
            </a:pP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communication,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schedule,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39080" y="5275579"/>
            <a:ext cx="2028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2536" y="5641340"/>
            <a:ext cx="6480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5095" algn="l"/>
                <a:tab pos="2244090" algn="l"/>
                <a:tab pos="3683000" algn="l"/>
                <a:tab pos="5097145" algn="l"/>
              </a:tabLst>
            </a:pP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internal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external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policies,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legislation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67193" y="5275579"/>
            <a:ext cx="1516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marR="5080" indent="-289560">
              <a:lnSpc>
                <a:spcPct val="100000"/>
              </a:lnSpc>
              <a:spcBef>
                <a:spcPts val="100"/>
              </a:spcBef>
            </a:pPr>
            <a:r>
              <a:rPr sz="2400" spc="-55" dirty="0">
                <a:solidFill>
                  <a:srgbClr val="FFFFFF"/>
                </a:solidFill>
                <a:latin typeface="Tahoma"/>
                <a:cs typeface="Tahoma"/>
              </a:rPr>
              <a:t>technology,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requiring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536" y="6007100"/>
            <a:ext cx="6501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communications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4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handled</a:t>
            </a:r>
            <a:r>
              <a:rPr sz="2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certain</a:t>
            </a:r>
            <a:r>
              <a:rPr sz="2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50" dirty="0">
                <a:solidFill>
                  <a:srgbClr val="FFFFFF"/>
                </a:solidFill>
                <a:latin typeface="Tahoma"/>
                <a:cs typeface="Tahoma"/>
              </a:rPr>
              <a:t>way,</a:t>
            </a:r>
            <a:r>
              <a:rPr sz="2400" spc="-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etc.)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00" y="769365"/>
            <a:ext cx="88626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latin typeface="Calibri"/>
                <a:cs typeface="Calibri"/>
              </a:rPr>
              <a:t>Communications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Management</a:t>
            </a:r>
            <a:r>
              <a:rPr b="0" spc="-1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Plan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Contents</a:t>
            </a:r>
            <a:r>
              <a:rPr b="0" spc="-1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(cont’d)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767967"/>
            <a:ext cx="8455025" cy="4592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715" indent="-274955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Input</a:t>
            </a:r>
            <a:r>
              <a:rPr sz="2600" spc="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documents</a:t>
            </a:r>
            <a:r>
              <a:rPr sz="2600" spc="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600" spc="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9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2600" spc="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need</a:t>
            </a:r>
            <a:r>
              <a:rPr sz="2600" spc="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600" spc="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order</a:t>
            </a:r>
            <a:r>
              <a:rPr sz="2600" spc="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600" spc="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create</a:t>
            </a:r>
            <a:r>
              <a:rPr sz="2600" spc="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your </a:t>
            </a:r>
            <a:r>
              <a:rPr sz="2600" spc="-30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6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plan</a:t>
            </a:r>
            <a:r>
              <a:rPr sz="2600" spc="-90" dirty="0">
                <a:solidFill>
                  <a:srgbClr val="FFFFFF"/>
                </a:solidFill>
                <a:latin typeface="Tahoma"/>
                <a:cs typeface="Tahoma"/>
              </a:rPr>
              <a:t> may</a:t>
            </a:r>
            <a:r>
              <a:rPr sz="2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include:</a:t>
            </a:r>
            <a:endParaRPr sz="2600">
              <a:latin typeface="Tahoma"/>
              <a:cs typeface="Tahoma"/>
            </a:endParaRPr>
          </a:p>
          <a:p>
            <a:pPr marL="652780" lvl="1" indent="-247015">
              <a:lnSpc>
                <a:spcPct val="100000"/>
              </a:lnSpc>
              <a:spcBef>
                <a:spcPts val="580"/>
              </a:spcBef>
              <a:buClr>
                <a:srgbClr val="0E6EC5"/>
              </a:buClr>
              <a:buSzPct val="85416"/>
              <a:buFont typeface="Arial MT"/>
              <a:buChar char="•"/>
              <a:tabLst>
                <a:tab pos="652780" algn="l"/>
              </a:tabLst>
            </a:pP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2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4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charter</a:t>
            </a:r>
            <a:endParaRPr sz="2400">
              <a:latin typeface="Tahoma"/>
              <a:cs typeface="Tahoma"/>
            </a:endParaRPr>
          </a:p>
          <a:p>
            <a:pPr marL="652780" lvl="1" indent="-247015">
              <a:lnSpc>
                <a:spcPct val="100000"/>
              </a:lnSpc>
              <a:spcBef>
                <a:spcPts val="580"/>
              </a:spcBef>
              <a:buClr>
                <a:srgbClr val="0E6EC5"/>
              </a:buClr>
              <a:buSzPct val="85416"/>
              <a:buFont typeface="Arial MT"/>
              <a:buChar char="•"/>
              <a:tabLst>
                <a:tab pos="652780" algn="l"/>
              </a:tabLst>
            </a:pP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stakeholder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register</a:t>
            </a:r>
            <a:endParaRPr sz="2400">
              <a:latin typeface="Tahoma"/>
              <a:cs typeface="Tahoma"/>
            </a:endParaRPr>
          </a:p>
          <a:p>
            <a:pPr marL="652780" lvl="1" indent="-247015">
              <a:lnSpc>
                <a:spcPct val="100000"/>
              </a:lnSpc>
              <a:spcBef>
                <a:spcPts val="575"/>
              </a:spcBef>
              <a:buClr>
                <a:srgbClr val="0E6EC5"/>
              </a:buClr>
              <a:buSzPct val="85416"/>
              <a:buFont typeface="Arial MT"/>
              <a:buChar char="•"/>
              <a:tabLst>
                <a:tab pos="652780" algn="l"/>
              </a:tabLst>
            </a:pP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29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24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75" dirty="0">
                <a:solidFill>
                  <a:srgbClr val="FFFFFF"/>
                </a:solidFill>
                <a:latin typeface="Tahoma"/>
                <a:cs typeface="Tahoma"/>
              </a:rPr>
              <a:t>allocation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4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plan</a:t>
            </a:r>
            <a:endParaRPr sz="2400">
              <a:latin typeface="Tahoma"/>
              <a:cs typeface="Tahoma"/>
            </a:endParaRPr>
          </a:p>
          <a:p>
            <a:pPr marL="285115" marR="5080" indent="-274955" algn="just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Although</a:t>
            </a:r>
            <a:r>
              <a:rPr sz="2600" spc="-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-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600" spc="-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communication  plan  is</a:t>
            </a:r>
            <a:r>
              <a:rPr sz="2600" spc="-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created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during</a:t>
            </a:r>
            <a:r>
              <a:rPr sz="2600" spc="3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3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b="1" spc="-10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600" b="1" spc="4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b="1" spc="-95" dirty="0">
                <a:solidFill>
                  <a:srgbClr val="FFFFFF"/>
                </a:solidFill>
                <a:latin typeface="Tahoma"/>
                <a:cs typeface="Tahoma"/>
              </a:rPr>
              <a:t>planning</a:t>
            </a:r>
            <a:r>
              <a:rPr sz="2600" b="1" spc="4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phase,</a:t>
            </a:r>
            <a:r>
              <a:rPr sz="2600" spc="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600" spc="3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may</a:t>
            </a:r>
            <a:r>
              <a:rPr sz="26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2600" spc="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repeat</a:t>
            </a:r>
            <a:r>
              <a:rPr sz="2600" spc="12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13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process</a:t>
            </a:r>
            <a:r>
              <a:rPr sz="2600" spc="13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2600" spc="12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1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project’s</a:t>
            </a:r>
            <a:r>
              <a:rPr sz="2600" spc="1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communication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requirements</a:t>
            </a:r>
            <a:r>
              <a:rPr sz="2600" spc="3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change.</a:t>
            </a:r>
            <a:r>
              <a:rPr sz="2600" spc="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2600" spc="3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stakeholders</a:t>
            </a:r>
            <a:r>
              <a:rPr sz="2600" spc="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2600" spc="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added</a:t>
            </a:r>
            <a:r>
              <a:rPr sz="2600" spc="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600" spc="3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or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removed</a:t>
            </a:r>
            <a:r>
              <a:rPr sz="2600" spc="6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2600" spc="6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-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project,</a:t>
            </a:r>
            <a:r>
              <a:rPr sz="2600" spc="4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-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plan</a:t>
            </a:r>
            <a:r>
              <a:rPr sz="2600" spc="-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spc="95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2600" spc="-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2600" spc="6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600" spc="6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be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revisited.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100" y="156717"/>
            <a:ext cx="73488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Calibri"/>
                <a:cs typeface="Calibri"/>
              </a:rPr>
              <a:t>Sample</a:t>
            </a:r>
            <a:r>
              <a:rPr sz="3600" b="0" spc="-105" dirty="0">
                <a:latin typeface="Calibri"/>
                <a:cs typeface="Calibri"/>
              </a:rPr>
              <a:t> </a:t>
            </a:r>
            <a:r>
              <a:rPr sz="3600" b="0" spc="-10" dirty="0">
                <a:latin typeface="Calibri"/>
                <a:cs typeface="Calibri"/>
              </a:rPr>
              <a:t>Stakeholder</a:t>
            </a:r>
            <a:r>
              <a:rPr sz="3600" b="0" spc="-110" dirty="0">
                <a:latin typeface="Calibri"/>
                <a:cs typeface="Calibri"/>
              </a:rPr>
              <a:t> </a:t>
            </a:r>
            <a:r>
              <a:rPr sz="3600" b="0" dirty="0">
                <a:latin typeface="Calibri"/>
                <a:cs typeface="Calibri"/>
              </a:rPr>
              <a:t>Analysis</a:t>
            </a:r>
            <a:r>
              <a:rPr sz="3600" b="0" spc="-80" dirty="0">
                <a:latin typeface="Calibri"/>
                <a:cs typeface="Calibri"/>
              </a:rPr>
              <a:t> </a:t>
            </a:r>
            <a:r>
              <a:rPr sz="3600" b="0" dirty="0">
                <a:latin typeface="Calibri"/>
                <a:cs typeface="Calibri"/>
              </a:rPr>
              <a:t>for</a:t>
            </a:r>
            <a:r>
              <a:rPr sz="3600" b="0" spc="-100" dirty="0">
                <a:latin typeface="Calibri"/>
                <a:cs typeface="Calibri"/>
              </a:rPr>
              <a:t> </a:t>
            </a:r>
            <a:r>
              <a:rPr sz="3600" b="0" spc="-10" dirty="0">
                <a:latin typeface="Calibri"/>
                <a:cs typeface="Calibri"/>
              </a:rPr>
              <a:t>Project Communications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8200" y="1371600"/>
            <a:ext cx="7010400" cy="4902835"/>
            <a:chOff x="838200" y="1371600"/>
            <a:chExt cx="7010400" cy="49028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371600"/>
              <a:ext cx="7010400" cy="25115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3810000"/>
              <a:ext cx="7010400" cy="246430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653541"/>
            <a:ext cx="60394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70" dirty="0">
                <a:solidFill>
                  <a:srgbClr val="FFFFFF"/>
                </a:solidFill>
                <a:latin typeface="Tahoma"/>
                <a:cs typeface="Tahoma"/>
              </a:rPr>
              <a:t>Manage</a:t>
            </a:r>
            <a:r>
              <a:rPr sz="4400" b="0" spc="-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400" b="0" spc="-40" dirty="0">
                <a:solidFill>
                  <a:srgbClr val="FFFFFF"/>
                </a:solidFill>
                <a:latin typeface="Tahoma"/>
                <a:cs typeface="Tahoma"/>
              </a:rPr>
              <a:t>Communications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55495" rIns="0" bIns="0" rtlCol="0">
            <a:spAutoFit/>
          </a:bodyPr>
          <a:lstStyle/>
          <a:p>
            <a:pPr marL="285115" marR="5080" indent="-274955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dirty="0"/>
              <a:t>In</a:t>
            </a:r>
            <a:r>
              <a:rPr spc="530" dirty="0"/>
              <a:t> </a:t>
            </a:r>
            <a:r>
              <a:rPr dirty="0"/>
              <a:t>this</a:t>
            </a:r>
            <a:r>
              <a:rPr spc="540" dirty="0"/>
              <a:t> </a:t>
            </a:r>
            <a:r>
              <a:rPr dirty="0"/>
              <a:t>process,</a:t>
            </a:r>
            <a:r>
              <a:rPr spc="375" dirty="0"/>
              <a:t> </a:t>
            </a:r>
            <a:r>
              <a:rPr dirty="0"/>
              <a:t>project</a:t>
            </a:r>
            <a:r>
              <a:rPr spc="535" dirty="0"/>
              <a:t> </a:t>
            </a:r>
            <a:r>
              <a:rPr dirty="0"/>
              <a:t>managers</a:t>
            </a:r>
            <a:r>
              <a:rPr spc="530" dirty="0"/>
              <a:t> </a:t>
            </a:r>
            <a:r>
              <a:rPr dirty="0"/>
              <a:t>and</a:t>
            </a:r>
            <a:r>
              <a:rPr spc="525" dirty="0"/>
              <a:t> </a:t>
            </a:r>
            <a:r>
              <a:rPr dirty="0"/>
              <a:t>their</a:t>
            </a:r>
            <a:r>
              <a:rPr spc="530" dirty="0"/>
              <a:t> </a:t>
            </a:r>
            <a:r>
              <a:rPr spc="-10" dirty="0"/>
              <a:t>teams </a:t>
            </a:r>
            <a:r>
              <a:rPr dirty="0"/>
              <a:t>execute</a:t>
            </a:r>
            <a:r>
              <a:rPr spc="165" dirty="0"/>
              <a:t>  </a:t>
            </a:r>
            <a:r>
              <a:rPr dirty="0"/>
              <a:t>the</a:t>
            </a:r>
            <a:r>
              <a:rPr spc="170" dirty="0"/>
              <a:t>  </a:t>
            </a:r>
            <a:r>
              <a:rPr dirty="0"/>
              <a:t>tasks</a:t>
            </a:r>
            <a:r>
              <a:rPr spc="180" dirty="0"/>
              <a:t>  </a:t>
            </a:r>
            <a:r>
              <a:rPr dirty="0"/>
              <a:t>and</a:t>
            </a:r>
            <a:r>
              <a:rPr spc="170" dirty="0"/>
              <a:t>  </a:t>
            </a:r>
            <a:r>
              <a:rPr dirty="0"/>
              <a:t>activities</a:t>
            </a:r>
            <a:r>
              <a:rPr spc="170" dirty="0"/>
              <a:t>  </a:t>
            </a:r>
            <a:r>
              <a:rPr dirty="0"/>
              <a:t>defined</a:t>
            </a:r>
            <a:r>
              <a:rPr spc="175" dirty="0"/>
              <a:t>  </a:t>
            </a:r>
            <a:r>
              <a:rPr dirty="0"/>
              <a:t>in</a:t>
            </a:r>
            <a:r>
              <a:rPr spc="175" dirty="0"/>
              <a:t>  </a:t>
            </a:r>
            <a:r>
              <a:rPr spc="-25" dirty="0"/>
              <a:t>the </a:t>
            </a:r>
            <a:r>
              <a:rPr dirty="0"/>
              <a:t>communication</a:t>
            </a:r>
            <a:r>
              <a:rPr spc="95" dirty="0"/>
              <a:t>  </a:t>
            </a:r>
            <a:r>
              <a:rPr dirty="0"/>
              <a:t>plan,</a:t>
            </a:r>
            <a:r>
              <a:rPr spc="15" dirty="0"/>
              <a:t>  </a:t>
            </a:r>
            <a:r>
              <a:rPr dirty="0"/>
              <a:t>i.e.,</a:t>
            </a:r>
            <a:r>
              <a:rPr spc="15" dirty="0"/>
              <a:t>  </a:t>
            </a:r>
            <a:r>
              <a:rPr dirty="0"/>
              <a:t>the</a:t>
            </a:r>
            <a:r>
              <a:rPr spc="105" dirty="0"/>
              <a:t>  </a:t>
            </a:r>
            <a:r>
              <a:rPr dirty="0"/>
              <a:t>collection,</a:t>
            </a:r>
            <a:r>
              <a:rPr spc="15" dirty="0"/>
              <a:t>  </a:t>
            </a:r>
            <a:r>
              <a:rPr spc="-20" dirty="0"/>
              <a:t>creation, </a:t>
            </a:r>
            <a:r>
              <a:rPr dirty="0"/>
              <a:t>storage,</a:t>
            </a:r>
            <a:r>
              <a:rPr spc="530" dirty="0"/>
              <a:t>   </a:t>
            </a:r>
            <a:r>
              <a:rPr dirty="0"/>
              <a:t>retrieval,</a:t>
            </a:r>
            <a:r>
              <a:rPr spc="540" dirty="0"/>
              <a:t>   </a:t>
            </a:r>
            <a:r>
              <a:rPr dirty="0"/>
              <a:t>management,</a:t>
            </a:r>
            <a:r>
              <a:rPr spc="540" dirty="0"/>
              <a:t>   </a:t>
            </a:r>
            <a:r>
              <a:rPr spc="-10" dirty="0"/>
              <a:t>distribution, </a:t>
            </a:r>
            <a:r>
              <a:rPr spc="-35" dirty="0"/>
              <a:t>monitoring,</a:t>
            </a:r>
            <a:r>
              <a:rPr spc="-350" dirty="0"/>
              <a:t> </a:t>
            </a:r>
            <a:r>
              <a:rPr spc="-50" dirty="0"/>
              <a:t>and</a:t>
            </a:r>
            <a:r>
              <a:rPr spc="-155" dirty="0"/>
              <a:t> </a:t>
            </a:r>
            <a:r>
              <a:rPr dirty="0"/>
              <a:t>disposal</a:t>
            </a:r>
            <a:r>
              <a:rPr spc="-150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spc="-35" dirty="0"/>
              <a:t>project</a:t>
            </a:r>
            <a:r>
              <a:rPr spc="-140" dirty="0"/>
              <a:t> </a:t>
            </a:r>
            <a:r>
              <a:rPr spc="-10" dirty="0"/>
              <a:t>information.</a:t>
            </a:r>
          </a:p>
          <a:p>
            <a:pPr>
              <a:lnSpc>
                <a:spcPct val="100000"/>
              </a:lnSpc>
              <a:spcBef>
                <a:spcPts val="1230"/>
              </a:spcBef>
              <a:buClr>
                <a:srgbClr val="0AD0D9"/>
              </a:buClr>
              <a:buFont typeface="Segoe UI Symbol"/>
              <a:buChar char="⚫"/>
            </a:pPr>
            <a:endParaRPr spc="-10" dirty="0"/>
          </a:p>
          <a:p>
            <a:pPr marL="285115" marR="31115" indent="-274955" algn="just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dirty="0"/>
              <a:t>The</a:t>
            </a:r>
            <a:r>
              <a:rPr spc="10" dirty="0"/>
              <a:t> </a:t>
            </a:r>
            <a:r>
              <a:rPr dirty="0"/>
              <a:t>goal</a:t>
            </a:r>
            <a:r>
              <a:rPr spc="1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provide</a:t>
            </a:r>
            <a:r>
              <a:rPr spc="20" dirty="0"/>
              <a:t> </a:t>
            </a:r>
            <a:r>
              <a:rPr spc="-40" dirty="0"/>
              <a:t>timely,</a:t>
            </a:r>
            <a:r>
              <a:rPr spc="-155" dirty="0"/>
              <a:t> </a:t>
            </a:r>
            <a:r>
              <a:rPr spc="-20" dirty="0"/>
              <a:t>accurate</a:t>
            </a:r>
            <a:r>
              <a:rPr spc="15" dirty="0"/>
              <a:t> </a:t>
            </a:r>
            <a:r>
              <a:rPr dirty="0"/>
              <a:t>information</a:t>
            </a:r>
            <a:r>
              <a:rPr spc="10" dirty="0"/>
              <a:t> </a:t>
            </a:r>
            <a:r>
              <a:rPr spc="-25" dirty="0"/>
              <a:t>to </a:t>
            </a:r>
            <a:r>
              <a:rPr dirty="0"/>
              <a:t>the</a:t>
            </a:r>
            <a:r>
              <a:rPr spc="295" dirty="0"/>
              <a:t>  </a:t>
            </a:r>
            <a:r>
              <a:rPr dirty="0"/>
              <a:t>right</a:t>
            </a:r>
            <a:r>
              <a:rPr spc="300" dirty="0"/>
              <a:t>  </a:t>
            </a:r>
            <a:r>
              <a:rPr dirty="0"/>
              <a:t>people</a:t>
            </a:r>
            <a:r>
              <a:rPr spc="300" dirty="0"/>
              <a:t>  </a:t>
            </a:r>
            <a:r>
              <a:rPr dirty="0"/>
              <a:t>using</a:t>
            </a:r>
            <a:r>
              <a:rPr spc="300" dirty="0"/>
              <a:t>  </a:t>
            </a:r>
            <a:r>
              <a:rPr dirty="0"/>
              <a:t>the</a:t>
            </a:r>
            <a:r>
              <a:rPr spc="300" dirty="0"/>
              <a:t>  </a:t>
            </a:r>
            <a:r>
              <a:rPr dirty="0"/>
              <a:t>appropriate</a:t>
            </a:r>
            <a:r>
              <a:rPr spc="295" dirty="0"/>
              <a:t>  </a:t>
            </a:r>
            <a:r>
              <a:rPr spc="-10" dirty="0"/>
              <a:t>project </a:t>
            </a:r>
            <a:r>
              <a:rPr spc="-30" dirty="0"/>
              <a:t>communication</a:t>
            </a:r>
            <a:r>
              <a:rPr spc="-75" dirty="0"/>
              <a:t> </a:t>
            </a:r>
            <a:r>
              <a:rPr spc="-10" dirty="0"/>
              <a:t>tools.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653541"/>
            <a:ext cx="75952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70" dirty="0">
                <a:solidFill>
                  <a:srgbClr val="FFFFFF"/>
                </a:solidFill>
                <a:latin typeface="Tahoma"/>
                <a:cs typeface="Tahoma"/>
              </a:rPr>
              <a:t>Manage</a:t>
            </a:r>
            <a:r>
              <a:rPr sz="4400" b="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400" b="0" spc="-50" dirty="0">
                <a:solidFill>
                  <a:srgbClr val="FFFFFF"/>
                </a:solidFill>
                <a:latin typeface="Tahoma"/>
                <a:cs typeface="Tahoma"/>
              </a:rPr>
              <a:t>Communications</a:t>
            </a:r>
            <a:r>
              <a:rPr sz="4400" b="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400" b="0" spc="-175" dirty="0">
                <a:solidFill>
                  <a:srgbClr val="FFFFFF"/>
                </a:solidFill>
                <a:latin typeface="Tahoma"/>
                <a:cs typeface="Tahoma"/>
              </a:rPr>
              <a:t>(Cont)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701164"/>
            <a:ext cx="8041005" cy="41484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4955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Besides</a:t>
            </a:r>
            <a:r>
              <a:rPr sz="2600" spc="5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r>
              <a:rPr sz="2600" spc="5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distribution,</a:t>
            </a:r>
            <a:r>
              <a:rPr sz="2600" spc="3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2600" spc="5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600" spc="5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also</a:t>
            </a:r>
            <a:r>
              <a:rPr sz="2600" spc="5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where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600" spc="7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encourage</a:t>
            </a:r>
            <a:r>
              <a:rPr sz="2600" spc="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stakeholders</a:t>
            </a:r>
            <a:r>
              <a:rPr sz="2600" spc="9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600" spc="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ask</a:t>
            </a:r>
            <a:r>
              <a:rPr sz="2600" spc="5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sz="2600" spc="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or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discuss</a:t>
            </a:r>
            <a:r>
              <a:rPr sz="26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any</a:t>
            </a:r>
            <a:r>
              <a:rPr sz="2600" spc="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lingering</a:t>
            </a:r>
            <a:r>
              <a:rPr sz="2600" spc="3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doubts</a:t>
            </a:r>
            <a:r>
              <a:rPr sz="2600" spc="3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600" spc="3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confusion</a:t>
            </a:r>
            <a:r>
              <a:rPr sz="2600" spc="3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2600" spc="2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may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2600" spc="10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regarding</a:t>
            </a:r>
            <a:r>
              <a:rPr sz="2600" spc="11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10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project,</a:t>
            </a:r>
            <a:r>
              <a:rPr sz="2600" spc="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so</a:t>
            </a:r>
            <a:r>
              <a:rPr sz="2600" spc="10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600" spc="10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2600" spc="11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provide clarification.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30"/>
              </a:spcBef>
              <a:buClr>
                <a:srgbClr val="0AD0D9"/>
              </a:buClr>
              <a:buFont typeface="Segoe UI Symbol"/>
              <a:buChar char="⚫"/>
            </a:pPr>
            <a:endParaRPr sz="2600">
              <a:latin typeface="Tahoma"/>
              <a:cs typeface="Tahoma"/>
            </a:endParaRPr>
          </a:p>
          <a:p>
            <a:pPr marL="285115" marR="5080" indent="-274955" algn="just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600" spc="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600" spc="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600" spc="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35" dirty="0">
                <a:solidFill>
                  <a:srgbClr val="FFFFFF"/>
                </a:solidFill>
                <a:latin typeface="Tahoma"/>
                <a:cs typeface="Tahoma"/>
              </a:rPr>
              <a:t>two-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way</a:t>
            </a:r>
            <a:r>
              <a:rPr sz="26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street.</a:t>
            </a:r>
            <a:r>
              <a:rPr sz="2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2600" spc="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only</a:t>
            </a:r>
            <a:r>
              <a:rPr sz="26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should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6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provide</a:t>
            </a:r>
            <a:r>
              <a:rPr sz="2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r>
              <a:rPr sz="2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right</a:t>
            </a:r>
            <a:r>
              <a:rPr sz="26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recipients</a:t>
            </a:r>
            <a:r>
              <a:rPr sz="2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at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right</a:t>
            </a:r>
            <a:r>
              <a:rPr sz="26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60" dirty="0">
                <a:solidFill>
                  <a:srgbClr val="FFFFFF"/>
                </a:solidFill>
                <a:latin typeface="Tahoma"/>
                <a:cs typeface="Tahoma"/>
              </a:rPr>
              <a:t>time,</a:t>
            </a:r>
            <a:r>
              <a:rPr sz="26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but</a:t>
            </a:r>
            <a:r>
              <a:rPr sz="26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6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also</a:t>
            </a:r>
            <a:r>
              <a:rPr sz="26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26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6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2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certain</a:t>
            </a:r>
            <a:r>
              <a:rPr sz="26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they </a:t>
            </a:r>
            <a:r>
              <a:rPr sz="2600" spc="-35" dirty="0">
                <a:solidFill>
                  <a:srgbClr val="FFFFFF"/>
                </a:solidFill>
                <a:latin typeface="Tahoma"/>
                <a:cs typeface="Tahoma"/>
              </a:rPr>
              <a:t>receive</a:t>
            </a:r>
            <a:r>
              <a:rPr sz="26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6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40" dirty="0">
                <a:solidFill>
                  <a:srgbClr val="FFFFFF"/>
                </a:solidFill>
                <a:latin typeface="Tahoma"/>
                <a:cs typeface="Tahoma"/>
              </a:rPr>
              <a:t>understand</a:t>
            </a:r>
            <a:r>
              <a:rPr sz="26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r>
              <a:rPr sz="2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75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6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FFFFFF"/>
                </a:solidFill>
                <a:latin typeface="Tahoma"/>
                <a:cs typeface="Tahoma"/>
              </a:rPr>
              <a:t>send</a:t>
            </a:r>
            <a:r>
              <a:rPr sz="26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out.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653541"/>
            <a:ext cx="75952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70" dirty="0">
                <a:solidFill>
                  <a:srgbClr val="FFFFFF"/>
                </a:solidFill>
                <a:latin typeface="Tahoma"/>
                <a:cs typeface="Tahoma"/>
              </a:rPr>
              <a:t>Manage</a:t>
            </a:r>
            <a:r>
              <a:rPr sz="4400" b="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400" b="0" spc="-50" dirty="0">
                <a:solidFill>
                  <a:srgbClr val="FFFFFF"/>
                </a:solidFill>
                <a:latin typeface="Tahoma"/>
                <a:cs typeface="Tahoma"/>
              </a:rPr>
              <a:t>Communications</a:t>
            </a:r>
            <a:r>
              <a:rPr sz="4400" b="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400" b="0" spc="-175" dirty="0">
                <a:solidFill>
                  <a:srgbClr val="FFFFFF"/>
                </a:solidFill>
                <a:latin typeface="Tahoma"/>
                <a:cs typeface="Tahoma"/>
              </a:rPr>
              <a:t>(Cont)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3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pc="-45" dirty="0"/>
              <a:t>Documents</a:t>
            </a:r>
            <a:r>
              <a:rPr spc="-135" dirty="0"/>
              <a:t> </a:t>
            </a:r>
            <a:r>
              <a:rPr spc="-50" dirty="0"/>
              <a:t>created</a:t>
            </a:r>
            <a:r>
              <a:rPr spc="-114" dirty="0"/>
              <a:t> </a:t>
            </a:r>
            <a:r>
              <a:rPr spc="-20" dirty="0"/>
              <a:t>during</a:t>
            </a:r>
            <a:r>
              <a:rPr spc="-125" dirty="0"/>
              <a:t> </a:t>
            </a:r>
            <a:r>
              <a:rPr dirty="0"/>
              <a:t>this</a:t>
            </a:r>
            <a:r>
              <a:rPr spc="-105" dirty="0"/>
              <a:t> </a:t>
            </a:r>
            <a:r>
              <a:rPr spc="-60" dirty="0"/>
              <a:t>process</a:t>
            </a:r>
            <a:r>
              <a:rPr spc="-105" dirty="0"/>
              <a:t> </a:t>
            </a:r>
            <a:r>
              <a:rPr spc="-10" dirty="0"/>
              <a:t>include:</a:t>
            </a:r>
          </a:p>
          <a:p>
            <a:pPr marL="652780" lvl="1" indent="-247015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Arial MT"/>
              <a:buChar char="•"/>
              <a:tabLst>
                <a:tab pos="652780" algn="l"/>
              </a:tabLst>
            </a:pPr>
            <a:r>
              <a:rPr sz="2400" spc="-55" dirty="0">
                <a:solidFill>
                  <a:srgbClr val="FFFFFF"/>
                </a:solidFill>
                <a:latin typeface="Tahoma"/>
                <a:cs typeface="Tahoma"/>
              </a:rPr>
              <a:t>Performance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reports</a:t>
            </a:r>
            <a:endParaRPr sz="2400">
              <a:latin typeface="Tahoma"/>
              <a:cs typeface="Tahoma"/>
            </a:endParaRPr>
          </a:p>
          <a:p>
            <a:pPr marL="652780" lvl="1" indent="-247015">
              <a:lnSpc>
                <a:spcPct val="100000"/>
              </a:lnSpc>
              <a:spcBef>
                <a:spcPts val="575"/>
              </a:spcBef>
              <a:buClr>
                <a:srgbClr val="0E6EC5"/>
              </a:buClr>
              <a:buSzPct val="85416"/>
              <a:buFont typeface="Arial MT"/>
              <a:buChar char="•"/>
              <a:tabLst>
                <a:tab pos="652780" algn="l"/>
              </a:tabLst>
            </a:pP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Presentations</a:t>
            </a:r>
            <a:endParaRPr sz="2400">
              <a:latin typeface="Tahoma"/>
              <a:cs typeface="Tahoma"/>
            </a:endParaRPr>
          </a:p>
          <a:p>
            <a:pPr marL="652780" lvl="1" indent="-247015">
              <a:lnSpc>
                <a:spcPct val="100000"/>
              </a:lnSpc>
              <a:spcBef>
                <a:spcPts val="580"/>
              </a:spcBef>
              <a:buClr>
                <a:srgbClr val="0E6EC5"/>
              </a:buClr>
              <a:buSzPct val="85416"/>
              <a:buFont typeface="Arial MT"/>
              <a:buChar char="•"/>
              <a:tabLst>
                <a:tab pos="652780" algn="l"/>
              </a:tabLst>
            </a:pP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Schedule</a:t>
            </a:r>
            <a:r>
              <a:rPr sz="24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updates</a:t>
            </a:r>
            <a:endParaRPr sz="2400">
              <a:latin typeface="Tahoma"/>
              <a:cs typeface="Tahoma"/>
            </a:endParaRPr>
          </a:p>
          <a:p>
            <a:pPr marL="652780" lvl="1" indent="-247015">
              <a:lnSpc>
                <a:spcPct val="100000"/>
              </a:lnSpc>
              <a:spcBef>
                <a:spcPts val="575"/>
              </a:spcBef>
              <a:buClr>
                <a:srgbClr val="0E6EC5"/>
              </a:buClr>
              <a:buSzPct val="85416"/>
              <a:buFont typeface="Arial MT"/>
              <a:buChar char="•"/>
              <a:tabLst>
                <a:tab pos="652780" algn="l"/>
              </a:tabLst>
            </a:pPr>
            <a:r>
              <a:rPr sz="2400" spc="-40" dirty="0">
                <a:solidFill>
                  <a:srgbClr val="FFFFFF"/>
                </a:solidFill>
                <a:latin typeface="Tahoma"/>
                <a:cs typeface="Tahoma"/>
              </a:rPr>
              <a:t>Updates</a:t>
            </a:r>
            <a:r>
              <a:rPr sz="24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4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Tahoma"/>
                <a:cs typeface="Tahoma"/>
              </a:rPr>
              <a:t>status</a:t>
            </a:r>
            <a:r>
              <a:rPr sz="24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4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Tahoma"/>
                <a:cs typeface="Tahoma"/>
              </a:rPr>
              <a:t>project’s</a:t>
            </a:r>
            <a:r>
              <a:rPr sz="24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deliverables</a:t>
            </a:r>
            <a:endParaRPr sz="2400">
              <a:latin typeface="Tahoma"/>
              <a:cs typeface="Tahoma"/>
            </a:endParaRPr>
          </a:p>
          <a:p>
            <a:pPr marL="285115" marR="5080" indent="-274955" algn="just">
              <a:lnSpc>
                <a:spcPct val="100000"/>
              </a:lnSpc>
              <a:spcBef>
                <a:spcPts val="61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dirty="0"/>
              <a:t>Certain</a:t>
            </a:r>
            <a:r>
              <a:rPr spc="204" dirty="0"/>
              <a:t> </a:t>
            </a:r>
            <a:r>
              <a:rPr dirty="0"/>
              <a:t>project</a:t>
            </a:r>
            <a:r>
              <a:rPr spc="215" dirty="0"/>
              <a:t> </a:t>
            </a:r>
            <a:r>
              <a:rPr dirty="0"/>
              <a:t>documents</a:t>
            </a:r>
            <a:r>
              <a:rPr spc="210" dirty="0"/>
              <a:t> </a:t>
            </a:r>
            <a:r>
              <a:rPr dirty="0"/>
              <a:t>may</a:t>
            </a:r>
            <a:r>
              <a:rPr spc="130" dirty="0"/>
              <a:t> </a:t>
            </a:r>
            <a:r>
              <a:rPr dirty="0"/>
              <a:t>have</a:t>
            </a:r>
            <a:r>
              <a:rPr spc="204" dirty="0"/>
              <a:t> </a:t>
            </a:r>
            <a:r>
              <a:rPr dirty="0"/>
              <a:t>to</a:t>
            </a:r>
            <a:r>
              <a:rPr spc="200" dirty="0"/>
              <a:t> </a:t>
            </a:r>
            <a:r>
              <a:rPr dirty="0"/>
              <a:t>be</a:t>
            </a:r>
            <a:r>
              <a:rPr spc="210" dirty="0"/>
              <a:t> </a:t>
            </a:r>
            <a:r>
              <a:rPr spc="-40" dirty="0"/>
              <a:t>updated, </a:t>
            </a:r>
            <a:r>
              <a:rPr dirty="0"/>
              <a:t>too,</a:t>
            </a:r>
            <a:r>
              <a:rPr spc="190" dirty="0"/>
              <a:t> </a:t>
            </a:r>
            <a:r>
              <a:rPr dirty="0"/>
              <a:t>such</a:t>
            </a:r>
            <a:r>
              <a:rPr spc="350" dirty="0"/>
              <a:t> </a:t>
            </a:r>
            <a:r>
              <a:rPr dirty="0"/>
              <a:t>as</a:t>
            </a:r>
            <a:r>
              <a:rPr spc="355" dirty="0"/>
              <a:t> </a:t>
            </a:r>
            <a:r>
              <a:rPr dirty="0"/>
              <a:t>the</a:t>
            </a:r>
            <a:r>
              <a:rPr spc="355" dirty="0"/>
              <a:t> </a:t>
            </a:r>
            <a:r>
              <a:rPr dirty="0"/>
              <a:t>communication</a:t>
            </a:r>
            <a:r>
              <a:rPr spc="360" dirty="0"/>
              <a:t> </a:t>
            </a:r>
            <a:r>
              <a:rPr dirty="0"/>
              <a:t>management</a:t>
            </a:r>
            <a:r>
              <a:rPr spc="370" dirty="0"/>
              <a:t> </a:t>
            </a:r>
            <a:r>
              <a:rPr spc="-10" dirty="0"/>
              <a:t>plan, </a:t>
            </a:r>
            <a:r>
              <a:rPr dirty="0"/>
              <a:t>project</a:t>
            </a:r>
            <a:r>
              <a:rPr spc="160" dirty="0"/>
              <a:t>   </a:t>
            </a:r>
            <a:r>
              <a:rPr dirty="0"/>
              <a:t>plan,</a:t>
            </a:r>
            <a:r>
              <a:rPr spc="565" dirty="0"/>
              <a:t>  </a:t>
            </a:r>
            <a:r>
              <a:rPr dirty="0"/>
              <a:t>stakeholder</a:t>
            </a:r>
            <a:r>
              <a:rPr spc="165" dirty="0"/>
              <a:t>   </a:t>
            </a:r>
            <a:r>
              <a:rPr dirty="0"/>
              <a:t>register,</a:t>
            </a:r>
            <a:r>
              <a:rPr spc="565" dirty="0"/>
              <a:t>  </a:t>
            </a:r>
            <a:r>
              <a:rPr spc="-10" dirty="0"/>
              <a:t>stakeholder </a:t>
            </a:r>
            <a:r>
              <a:rPr spc="-45" dirty="0"/>
              <a:t>engagement</a:t>
            </a:r>
            <a:r>
              <a:rPr spc="-160" dirty="0"/>
              <a:t> </a:t>
            </a:r>
            <a:r>
              <a:rPr spc="-50" dirty="0"/>
              <a:t>plan,</a:t>
            </a:r>
            <a:r>
              <a:rPr spc="-315" dirty="0"/>
              <a:t> </a:t>
            </a:r>
            <a:r>
              <a:rPr spc="-50" dirty="0"/>
              <a:t>and</a:t>
            </a:r>
            <a:r>
              <a:rPr spc="-155" dirty="0"/>
              <a:t> </a:t>
            </a:r>
            <a:r>
              <a:rPr dirty="0"/>
              <a:t>the</a:t>
            </a:r>
            <a:r>
              <a:rPr spc="-160" dirty="0"/>
              <a:t> </a:t>
            </a:r>
            <a:r>
              <a:rPr spc="-10" dirty="0"/>
              <a:t>lessons</a:t>
            </a:r>
            <a:r>
              <a:rPr spc="-120" dirty="0"/>
              <a:t> </a:t>
            </a:r>
            <a:r>
              <a:rPr spc="-20" dirty="0"/>
              <a:t>learned</a:t>
            </a:r>
            <a:r>
              <a:rPr spc="-135" dirty="0"/>
              <a:t> </a:t>
            </a:r>
            <a:r>
              <a:rPr spc="-10" dirty="0"/>
              <a:t>register.</a:t>
            </a:r>
          </a:p>
          <a:p>
            <a:pPr marL="285115" marR="29209" indent="-274955" algn="just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dirty="0"/>
              <a:t>Communications</a:t>
            </a:r>
            <a:r>
              <a:rPr spc="335" dirty="0"/>
              <a:t>  </a:t>
            </a:r>
            <a:r>
              <a:rPr dirty="0"/>
              <a:t>management</a:t>
            </a:r>
            <a:r>
              <a:rPr spc="340" dirty="0"/>
              <a:t>  </a:t>
            </a:r>
            <a:r>
              <a:rPr dirty="0"/>
              <a:t>occurs</a:t>
            </a:r>
            <a:r>
              <a:rPr spc="345" dirty="0"/>
              <a:t>  </a:t>
            </a:r>
            <a:r>
              <a:rPr spc="-20" dirty="0"/>
              <a:t>throughout </a:t>
            </a:r>
            <a:r>
              <a:rPr dirty="0"/>
              <a:t>the</a:t>
            </a:r>
            <a:r>
              <a:rPr spc="-114" dirty="0"/>
              <a:t> </a:t>
            </a:r>
            <a:r>
              <a:rPr b="1" spc="-250" dirty="0">
                <a:latin typeface="Tahoma"/>
                <a:cs typeface="Tahoma"/>
              </a:rPr>
              <a:t>project’s</a:t>
            </a:r>
            <a:r>
              <a:rPr b="1" spc="-85" dirty="0">
                <a:latin typeface="Tahoma"/>
                <a:cs typeface="Tahoma"/>
              </a:rPr>
              <a:t> </a:t>
            </a:r>
            <a:r>
              <a:rPr b="1" spc="-140" dirty="0">
                <a:latin typeface="Tahoma"/>
                <a:cs typeface="Tahoma"/>
              </a:rPr>
              <a:t>life</a:t>
            </a:r>
            <a:r>
              <a:rPr b="1" spc="-100" dirty="0">
                <a:latin typeface="Tahoma"/>
                <a:cs typeface="Tahoma"/>
              </a:rPr>
              <a:t> </a:t>
            </a:r>
            <a:r>
              <a:rPr b="1" spc="-50" dirty="0">
                <a:latin typeface="Tahoma"/>
                <a:cs typeface="Tahoma"/>
              </a:rPr>
              <a:t>cycle</a:t>
            </a:r>
            <a:r>
              <a:rPr spc="-5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653541"/>
            <a:ext cx="75952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70" dirty="0">
                <a:solidFill>
                  <a:srgbClr val="FFFFFF"/>
                </a:solidFill>
                <a:latin typeface="Tahoma"/>
                <a:cs typeface="Tahoma"/>
              </a:rPr>
              <a:t>Manage</a:t>
            </a:r>
            <a:r>
              <a:rPr sz="4400" b="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400" b="0" spc="-50" dirty="0">
                <a:solidFill>
                  <a:srgbClr val="FFFFFF"/>
                </a:solidFill>
                <a:latin typeface="Tahoma"/>
                <a:cs typeface="Tahoma"/>
              </a:rPr>
              <a:t>Communications</a:t>
            </a:r>
            <a:r>
              <a:rPr sz="4400" b="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400" b="0" spc="-175" dirty="0">
                <a:solidFill>
                  <a:srgbClr val="FFFFFF"/>
                </a:solidFill>
                <a:latin typeface="Tahoma"/>
                <a:cs typeface="Tahoma"/>
              </a:rPr>
              <a:t>(Cont)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59433"/>
            <a:ext cx="7840345" cy="4009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198755" indent="-273050">
              <a:lnSpc>
                <a:spcPct val="100000"/>
              </a:lnSpc>
              <a:spcBef>
                <a:spcPts val="10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Getting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right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information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right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-1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at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right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time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useful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format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is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just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as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important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as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developing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information</a:t>
            </a:r>
            <a:r>
              <a:rPr sz="2600" spc="-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first place.</a:t>
            </a:r>
            <a:endParaRPr sz="2600">
              <a:latin typeface="Constantia"/>
              <a:cs typeface="Constantia"/>
            </a:endParaRPr>
          </a:p>
          <a:p>
            <a:pPr marL="285115" indent="-272415">
              <a:lnSpc>
                <a:spcPct val="100000"/>
              </a:lnSpc>
              <a:spcBef>
                <a:spcPts val="2500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Important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considerations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include:</a:t>
            </a:r>
            <a:endParaRPr sz="2600">
              <a:latin typeface="Constantia"/>
              <a:cs typeface="Constantia"/>
            </a:endParaRPr>
          </a:p>
          <a:p>
            <a:pPr marL="652780" lvl="1" indent="-247015">
              <a:lnSpc>
                <a:spcPct val="100000"/>
              </a:lnSpc>
              <a:spcBef>
                <a:spcPts val="2315"/>
              </a:spcBef>
              <a:buClr>
                <a:srgbClr val="666699"/>
              </a:buClr>
              <a:buSzPct val="85416"/>
              <a:buFont typeface="Wingdings"/>
              <a:buChar char=""/>
              <a:tabLst>
                <a:tab pos="652780" algn="l"/>
              </a:tabLst>
            </a:pP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Using</a:t>
            </a:r>
            <a:r>
              <a:rPr sz="24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technology</a:t>
            </a:r>
            <a:r>
              <a:rPr sz="24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4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enhance</a:t>
            </a:r>
            <a:r>
              <a:rPr sz="24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information</a:t>
            </a:r>
            <a:r>
              <a:rPr sz="24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distribution.</a:t>
            </a:r>
            <a:endParaRPr sz="2400">
              <a:latin typeface="Constantia"/>
              <a:cs typeface="Constantia"/>
            </a:endParaRPr>
          </a:p>
          <a:p>
            <a:pPr marL="652780" marR="1173480" lvl="1" indent="-247015">
              <a:lnSpc>
                <a:spcPct val="100000"/>
              </a:lnSpc>
              <a:spcBef>
                <a:spcPts val="2305"/>
              </a:spcBef>
              <a:buClr>
                <a:srgbClr val="666699"/>
              </a:buClr>
              <a:buSzPct val="85416"/>
              <a:buFont typeface="Wingdings"/>
              <a:buChar char=""/>
              <a:tabLst>
                <a:tab pos="652780" algn="l"/>
              </a:tabLst>
            </a:pP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Formal</a:t>
            </a:r>
            <a:r>
              <a:rPr sz="24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4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informal</a:t>
            </a:r>
            <a:r>
              <a:rPr sz="24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methods</a:t>
            </a:r>
            <a:r>
              <a:rPr sz="24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4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distributing information.</a:t>
            </a:r>
            <a:endParaRPr sz="24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262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Distributing</a:t>
            </a:r>
            <a:r>
              <a:rPr sz="4000" spc="-70" dirty="0"/>
              <a:t> </a:t>
            </a:r>
            <a:r>
              <a:rPr sz="4000" spc="-20" dirty="0"/>
              <a:t>Information</a:t>
            </a:r>
            <a:r>
              <a:rPr sz="4000" spc="-110" dirty="0"/>
              <a:t> </a:t>
            </a:r>
            <a:r>
              <a:rPr sz="4000" dirty="0"/>
              <a:t>in</a:t>
            </a:r>
            <a:r>
              <a:rPr sz="4000" spc="-105" dirty="0"/>
              <a:t> </a:t>
            </a:r>
            <a:r>
              <a:rPr sz="4000" dirty="0"/>
              <a:t>an</a:t>
            </a:r>
            <a:r>
              <a:rPr sz="4000" spc="-114" dirty="0"/>
              <a:t> </a:t>
            </a:r>
            <a:r>
              <a:rPr sz="4000" spc="-10" dirty="0"/>
              <a:t>Effective </a:t>
            </a:r>
            <a:r>
              <a:rPr sz="4000" dirty="0"/>
              <a:t>and</a:t>
            </a:r>
            <a:r>
              <a:rPr sz="4000" spc="-90" dirty="0"/>
              <a:t> </a:t>
            </a:r>
            <a:r>
              <a:rPr sz="4000" dirty="0"/>
              <a:t>Timely</a:t>
            </a:r>
            <a:r>
              <a:rPr sz="4000" spc="-90" dirty="0"/>
              <a:t> </a:t>
            </a:r>
            <a:r>
              <a:rPr sz="4000" spc="-10" dirty="0"/>
              <a:t>Manner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993519"/>
            <a:ext cx="8304530" cy="2800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Don’t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bury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crucial</a:t>
            </a:r>
            <a:r>
              <a:rPr sz="2600" spc="1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information.</a:t>
            </a:r>
            <a:endParaRPr sz="2600">
              <a:latin typeface="Constantia"/>
              <a:cs typeface="Constantia"/>
            </a:endParaRPr>
          </a:p>
          <a:p>
            <a:pPr marL="285115" indent="-272415">
              <a:lnSpc>
                <a:spcPct val="100000"/>
              </a:lnSpc>
              <a:spcBef>
                <a:spcPts val="3120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Don’t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be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afraid</a:t>
            </a:r>
            <a:r>
              <a:rPr sz="2600" spc="-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report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bad</a:t>
            </a: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information.</a:t>
            </a:r>
            <a:endParaRPr sz="2600">
              <a:latin typeface="Constantia"/>
              <a:cs typeface="Constantia"/>
            </a:endParaRPr>
          </a:p>
          <a:p>
            <a:pPr marL="285115" marR="5080" indent="-273050">
              <a:lnSpc>
                <a:spcPct val="100000"/>
              </a:lnSpc>
              <a:spcBef>
                <a:spcPts val="3120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Oral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via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meetings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1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informal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talks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helps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bring</a:t>
            </a:r>
            <a:r>
              <a:rPr sz="2600" spc="-1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important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information—good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bad—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out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into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open.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"/>
                <a:cs typeface="Calibri"/>
              </a:rPr>
              <a:t>Importance</a:t>
            </a:r>
            <a:r>
              <a:rPr sz="4400" b="0" spc="-2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of</a:t>
            </a:r>
            <a:r>
              <a:rPr sz="4400" b="0" spc="-20" dirty="0">
                <a:latin typeface="Calibri"/>
                <a:cs typeface="Calibri"/>
              </a:rPr>
              <a:t> </a:t>
            </a:r>
            <a:r>
              <a:rPr sz="4400" b="0" spc="-40" dirty="0">
                <a:latin typeface="Calibri"/>
                <a:cs typeface="Calibri"/>
              </a:rPr>
              <a:t>Face-to-</a:t>
            </a:r>
            <a:r>
              <a:rPr sz="4400" b="0" spc="-20" dirty="0">
                <a:latin typeface="Calibri"/>
                <a:cs typeface="Calibri"/>
              </a:rPr>
              <a:t>Face </a:t>
            </a:r>
            <a:r>
              <a:rPr sz="4400" b="0" spc="-10" dirty="0">
                <a:latin typeface="Calibri"/>
                <a:cs typeface="Calibri"/>
              </a:rPr>
              <a:t>Communication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142189"/>
            <a:ext cx="7985759" cy="39141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420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Research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says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that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face-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to-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face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interaction:</a:t>
            </a:r>
            <a:endParaRPr sz="2600">
              <a:latin typeface="Constantia"/>
              <a:cs typeface="Constantia"/>
            </a:endParaRPr>
          </a:p>
          <a:p>
            <a:pPr marL="652780" lvl="1" indent="-247015">
              <a:lnSpc>
                <a:spcPct val="100000"/>
              </a:lnSpc>
              <a:spcBef>
                <a:spcPts val="295"/>
              </a:spcBef>
              <a:buClr>
                <a:srgbClr val="666699"/>
              </a:buClr>
              <a:buSzPct val="85416"/>
              <a:buFont typeface="Wingdings"/>
              <a:buChar char=""/>
              <a:tabLst>
                <a:tab pos="652780" algn="l"/>
              </a:tabLst>
            </a:pP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58</a:t>
            </a:r>
            <a:r>
              <a:rPr sz="24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onstantia"/>
                <a:cs typeface="Constantia"/>
              </a:rPr>
              <a:t>percent</a:t>
            </a:r>
            <a:r>
              <a:rPr sz="24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400" spc="-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4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is</a:t>
            </a:r>
            <a:r>
              <a:rPr sz="24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through</a:t>
            </a:r>
            <a:r>
              <a:rPr sz="24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body</a:t>
            </a:r>
            <a:r>
              <a:rPr sz="24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language.</a:t>
            </a:r>
            <a:endParaRPr sz="2400">
              <a:latin typeface="Constantia"/>
              <a:cs typeface="Constantia"/>
            </a:endParaRPr>
          </a:p>
          <a:p>
            <a:pPr marL="652780" marR="103505" lvl="1" indent="-247650">
              <a:lnSpc>
                <a:spcPts val="2590"/>
              </a:lnSpc>
              <a:spcBef>
                <a:spcPts val="620"/>
              </a:spcBef>
              <a:buClr>
                <a:srgbClr val="666699"/>
              </a:buClr>
              <a:buSzPct val="85416"/>
              <a:buFont typeface="Wingdings"/>
              <a:buChar char=""/>
              <a:tabLst>
                <a:tab pos="652780" algn="l"/>
              </a:tabLst>
            </a:pP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35</a:t>
            </a:r>
            <a:r>
              <a:rPr sz="24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onstantia"/>
                <a:cs typeface="Constantia"/>
              </a:rPr>
              <a:t>percent</a:t>
            </a:r>
            <a:r>
              <a:rPr sz="24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400" spc="-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4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is</a:t>
            </a:r>
            <a:r>
              <a:rPr sz="24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through</a:t>
            </a:r>
            <a:r>
              <a:rPr sz="24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how</a:t>
            </a:r>
            <a:r>
              <a:rPr sz="24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4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words </a:t>
            </a: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are</a:t>
            </a:r>
            <a:r>
              <a:rPr sz="24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said.</a:t>
            </a:r>
            <a:endParaRPr sz="2400">
              <a:latin typeface="Constantia"/>
              <a:cs typeface="Constantia"/>
            </a:endParaRPr>
          </a:p>
          <a:p>
            <a:pPr marL="652780" lvl="1" indent="-247015">
              <a:lnSpc>
                <a:spcPts val="2735"/>
              </a:lnSpc>
              <a:spcBef>
                <a:spcPts val="250"/>
              </a:spcBef>
              <a:buClr>
                <a:srgbClr val="666699"/>
              </a:buClr>
              <a:buSzPct val="85416"/>
              <a:buFont typeface="Wingdings"/>
              <a:buChar char=""/>
              <a:tabLst>
                <a:tab pos="652780" algn="l"/>
              </a:tabLst>
            </a:pP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7</a:t>
            </a:r>
            <a:r>
              <a:rPr sz="2400" spc="-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onstantia"/>
                <a:cs typeface="Constantia"/>
              </a:rPr>
              <a:t>percent</a:t>
            </a:r>
            <a:r>
              <a:rPr sz="24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400" spc="-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is</a:t>
            </a:r>
            <a:r>
              <a:rPr sz="24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through</a:t>
            </a:r>
            <a:r>
              <a:rPr sz="24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4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onstantia"/>
                <a:cs typeface="Constantia"/>
              </a:rPr>
              <a:t>content</a:t>
            </a:r>
            <a:r>
              <a:rPr sz="24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onstantia"/>
                <a:cs typeface="Constantia"/>
              </a:rPr>
              <a:t>or</a:t>
            </a:r>
            <a:endParaRPr sz="2400">
              <a:latin typeface="Constantia"/>
              <a:cs typeface="Constantia"/>
            </a:endParaRPr>
          </a:p>
          <a:p>
            <a:pPr marL="652780">
              <a:lnSpc>
                <a:spcPts val="2735"/>
              </a:lnSpc>
            </a:pP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words</a:t>
            </a:r>
            <a:r>
              <a:rPr sz="24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that</a:t>
            </a:r>
            <a:r>
              <a:rPr sz="24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are</a:t>
            </a:r>
            <a:r>
              <a:rPr sz="24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spoken.</a:t>
            </a:r>
            <a:endParaRPr sz="2400">
              <a:latin typeface="Constantia"/>
              <a:cs typeface="Constantia"/>
            </a:endParaRPr>
          </a:p>
          <a:p>
            <a:pPr marL="285115" marR="900430" indent="-273050">
              <a:lnSpc>
                <a:spcPts val="2810"/>
              </a:lnSpc>
              <a:spcBef>
                <a:spcPts val="65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Pay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attention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more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than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just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actual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words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someone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is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saying.</a:t>
            </a:r>
            <a:endParaRPr sz="2600">
              <a:latin typeface="Constantia"/>
              <a:cs typeface="Constantia"/>
            </a:endParaRPr>
          </a:p>
          <a:p>
            <a:pPr marL="285115" indent="-272415">
              <a:lnSpc>
                <a:spcPts val="2965"/>
              </a:lnSpc>
              <a:spcBef>
                <a:spcPts val="270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person’s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tone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voice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 body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language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say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lot</a:t>
            </a:r>
            <a:endParaRPr sz="2600">
              <a:latin typeface="Constantia"/>
              <a:cs typeface="Constantia"/>
            </a:endParaRPr>
          </a:p>
          <a:p>
            <a:pPr marL="285115">
              <a:lnSpc>
                <a:spcPts val="2965"/>
              </a:lnSpc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about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how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he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or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she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really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feels.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"/>
                <a:cs typeface="Calibri"/>
              </a:rPr>
              <a:t>Encouraging</a:t>
            </a:r>
            <a:r>
              <a:rPr sz="4400" b="0" spc="-12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More</a:t>
            </a:r>
            <a:r>
              <a:rPr sz="4400" b="0" spc="-114" dirty="0">
                <a:latin typeface="Calibri"/>
                <a:cs typeface="Calibri"/>
              </a:rPr>
              <a:t> </a:t>
            </a:r>
            <a:r>
              <a:rPr sz="4400" b="0" spc="-45" dirty="0">
                <a:latin typeface="Calibri"/>
                <a:cs typeface="Calibri"/>
              </a:rPr>
              <a:t>Face-</a:t>
            </a:r>
            <a:r>
              <a:rPr sz="4400" b="0" spc="-40" dirty="0">
                <a:latin typeface="Calibri"/>
                <a:cs typeface="Calibri"/>
              </a:rPr>
              <a:t>to-</a:t>
            </a:r>
            <a:r>
              <a:rPr sz="4400" b="0" spc="-20" dirty="0">
                <a:latin typeface="Calibri"/>
                <a:cs typeface="Calibri"/>
              </a:rPr>
              <a:t>Face </a:t>
            </a:r>
            <a:r>
              <a:rPr sz="4400" b="0" spc="-10" dirty="0">
                <a:latin typeface="Calibri"/>
                <a:cs typeface="Calibri"/>
              </a:rPr>
              <a:t>Interactions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374519"/>
            <a:ext cx="7979409" cy="3593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42290" indent="-273050">
              <a:lnSpc>
                <a:spcPct val="100000"/>
              </a:lnSpc>
              <a:spcBef>
                <a:spcPts val="10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dirty="0">
                <a:solidFill>
                  <a:srgbClr val="FF9900"/>
                </a:solidFill>
                <a:latin typeface="Constantia"/>
                <a:cs typeface="Constantia"/>
              </a:rPr>
              <a:t>Short,</a:t>
            </a:r>
            <a:r>
              <a:rPr sz="2600" spc="-90" dirty="0">
                <a:solidFill>
                  <a:srgbClr val="FF9900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9900"/>
                </a:solidFill>
                <a:latin typeface="Constantia"/>
                <a:cs typeface="Constantia"/>
              </a:rPr>
              <a:t>frequent</a:t>
            </a:r>
            <a:r>
              <a:rPr sz="2600" spc="-105" dirty="0">
                <a:solidFill>
                  <a:srgbClr val="FF9900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9900"/>
                </a:solidFill>
                <a:latin typeface="Constantia"/>
                <a:cs typeface="Constantia"/>
              </a:rPr>
              <a:t>meetings</a:t>
            </a:r>
            <a:r>
              <a:rPr sz="2600" spc="-145" dirty="0">
                <a:solidFill>
                  <a:srgbClr val="FF9900"/>
                </a:solidFill>
                <a:latin typeface="Constantia"/>
                <a:cs typeface="Constantia"/>
              </a:rPr>
              <a:t> 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are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often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very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effective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in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projects.</a:t>
            </a:r>
            <a:endParaRPr sz="2600">
              <a:latin typeface="Constantia"/>
              <a:cs typeface="Constantia"/>
            </a:endParaRPr>
          </a:p>
          <a:p>
            <a:pPr marL="285115" marR="94615" indent="-273050">
              <a:lnSpc>
                <a:spcPct val="100000"/>
              </a:lnSpc>
              <a:spcBef>
                <a:spcPts val="3120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Stand-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up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meetings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force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focus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on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what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they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really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need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communicate.</a:t>
            </a:r>
            <a:endParaRPr sz="2600">
              <a:latin typeface="Constantia"/>
              <a:cs typeface="Constantia"/>
            </a:endParaRPr>
          </a:p>
          <a:p>
            <a:pPr marL="285115" marR="5080" indent="-273050">
              <a:lnSpc>
                <a:spcPct val="100000"/>
              </a:lnSpc>
              <a:spcBef>
                <a:spcPts val="3120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Some</a:t>
            </a:r>
            <a:r>
              <a:rPr sz="2600" spc="-1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companies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have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policies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preventing</a:t>
            </a:r>
            <a:r>
              <a:rPr sz="26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use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e-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mail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between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certain</a:t>
            </a:r>
            <a:r>
              <a:rPr sz="26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hours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or</a:t>
            </a:r>
            <a:r>
              <a:rPr sz="2600" spc="-1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even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entire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days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the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week.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34518"/>
            <a:ext cx="4044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Media</a:t>
            </a:r>
            <a:r>
              <a:rPr sz="4000" b="0" spc="-2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Choice </a:t>
            </a:r>
            <a:r>
              <a:rPr sz="4000" b="0" spc="-50" dirty="0">
                <a:latin typeface="Calibri"/>
                <a:cs typeface="Calibri"/>
              </a:rPr>
              <a:t>Table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" y="989074"/>
            <a:ext cx="8738868" cy="6326125"/>
            <a:chOff x="1676400" y="989075"/>
            <a:chExt cx="5715000" cy="5501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6400" y="989075"/>
              <a:ext cx="5715000" cy="54879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53361" y="6020561"/>
              <a:ext cx="5334000" cy="457200"/>
            </a:xfrm>
            <a:custGeom>
              <a:avLst/>
              <a:gdLst/>
              <a:ahLst/>
              <a:cxnLst/>
              <a:rect l="l" t="t" r="r" b="b"/>
              <a:pathLst>
                <a:path w="5334000" h="457200">
                  <a:moveTo>
                    <a:pt x="533399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5333999" y="457200"/>
                  </a:lnTo>
                  <a:lnTo>
                    <a:pt x="5333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53361" y="6020561"/>
              <a:ext cx="5334000" cy="457200"/>
            </a:xfrm>
            <a:custGeom>
              <a:avLst/>
              <a:gdLst/>
              <a:ahLst/>
              <a:cxnLst/>
              <a:rect l="l" t="t" r="r" b="b"/>
              <a:pathLst>
                <a:path w="5334000" h="457200">
                  <a:moveTo>
                    <a:pt x="0" y="457200"/>
                  </a:moveTo>
                  <a:lnTo>
                    <a:pt x="5333999" y="457200"/>
                  </a:lnTo>
                  <a:lnTo>
                    <a:pt x="5333999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900" y="583768"/>
            <a:ext cx="7491095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Understanding</a:t>
            </a:r>
            <a:r>
              <a:rPr sz="4000" b="0" spc="-12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Group</a:t>
            </a:r>
            <a:r>
              <a:rPr sz="4000" b="0" spc="-13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and</a:t>
            </a:r>
            <a:r>
              <a:rPr sz="4000" b="0" spc="-12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Individual Communication</a:t>
            </a:r>
            <a:r>
              <a:rPr sz="4000" b="0" spc="-21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Needs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374519"/>
            <a:ext cx="8312150" cy="2404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are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not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interchangeable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parts.</a:t>
            </a:r>
            <a:endParaRPr sz="2600">
              <a:latin typeface="Constantia"/>
              <a:cs typeface="Constantia"/>
            </a:endParaRPr>
          </a:p>
          <a:p>
            <a:pPr marL="285115" marR="52069" indent="-273050">
              <a:lnSpc>
                <a:spcPct val="100000"/>
              </a:lnSpc>
              <a:spcBef>
                <a:spcPts val="3120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As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illustrated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Brooks’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book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i="1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i="1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i="1" dirty="0">
                <a:solidFill>
                  <a:srgbClr val="FFFFFF"/>
                </a:solidFill>
                <a:latin typeface="Constantia"/>
                <a:cs typeface="Constantia"/>
              </a:rPr>
              <a:t>Mythical</a:t>
            </a:r>
            <a:r>
              <a:rPr sz="2600" i="1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i="1" spc="-30" dirty="0">
                <a:solidFill>
                  <a:srgbClr val="FFFFFF"/>
                </a:solidFill>
                <a:latin typeface="Constantia"/>
                <a:cs typeface="Constantia"/>
              </a:rPr>
              <a:t>Man-</a:t>
            </a:r>
            <a:r>
              <a:rPr sz="2600" i="1" spc="-10" dirty="0">
                <a:solidFill>
                  <a:srgbClr val="FFFFFF"/>
                </a:solidFill>
                <a:latin typeface="Constantia"/>
                <a:cs typeface="Constantia"/>
              </a:rPr>
              <a:t>Month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,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you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cannot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assume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that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task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originally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scheduled</a:t>
            </a:r>
            <a:r>
              <a:rPr sz="2600" spc="-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endParaRPr sz="2600">
              <a:latin typeface="Constantia"/>
              <a:cs typeface="Constantia"/>
            </a:endParaRPr>
          </a:p>
          <a:p>
            <a:pPr marL="285115">
              <a:lnSpc>
                <a:spcPct val="100000"/>
              </a:lnSpc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take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two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months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one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person’s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time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can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be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done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one</a:t>
            </a:r>
            <a:endParaRPr sz="2600">
              <a:latin typeface="Constantia"/>
              <a:cs typeface="Constantia"/>
            </a:endParaRPr>
          </a:p>
          <a:p>
            <a:pPr marL="285115">
              <a:lnSpc>
                <a:spcPct val="100000"/>
              </a:lnSpc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month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by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two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people.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12749"/>
            <a:ext cx="56762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Personal</a:t>
            </a:r>
            <a:r>
              <a:rPr sz="4000" b="0" spc="-160" dirty="0">
                <a:latin typeface="Calibri"/>
                <a:cs typeface="Calibri"/>
              </a:rPr>
              <a:t> </a:t>
            </a:r>
            <a:r>
              <a:rPr sz="4000" b="0" spc="-20" dirty="0">
                <a:latin typeface="Calibri"/>
                <a:cs typeface="Calibri"/>
              </a:rPr>
              <a:t>Preferences</a:t>
            </a:r>
            <a:r>
              <a:rPr sz="4000" b="0" spc="-160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Affect Communication</a:t>
            </a:r>
            <a:r>
              <a:rPr sz="4000" b="0" spc="-140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Needs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764919"/>
            <a:ext cx="8295640" cy="4227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744855" indent="-273050">
              <a:lnSpc>
                <a:spcPct val="100000"/>
              </a:lnSpc>
              <a:spcBef>
                <a:spcPts val="10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Introverts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like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more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private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communications,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while extroverts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like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discuss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things</a:t>
            </a:r>
            <a:r>
              <a:rPr sz="26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public.</a:t>
            </a:r>
            <a:endParaRPr sz="2600">
              <a:latin typeface="Constantia"/>
              <a:cs typeface="Constantia"/>
            </a:endParaRPr>
          </a:p>
          <a:p>
            <a:pPr marL="285115" marR="5080" indent="-273050">
              <a:lnSpc>
                <a:spcPct val="100000"/>
              </a:lnSpc>
              <a:spcBef>
                <a:spcPts val="620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Intuitive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like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understand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big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picture,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while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sensing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need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step-by-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step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details.</a:t>
            </a:r>
            <a:endParaRPr sz="2600">
              <a:latin typeface="Constantia"/>
              <a:cs typeface="Constantia"/>
            </a:endParaRPr>
          </a:p>
          <a:p>
            <a:pPr marL="285115" marR="30480" indent="-273050">
              <a:lnSpc>
                <a:spcPct val="100000"/>
              </a:lnSpc>
              <a:spcBef>
                <a:spcPts val="62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Thinkers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want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know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logic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behind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decisions,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while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feeling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want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know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how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something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affects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them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personally.</a:t>
            </a:r>
            <a:endParaRPr sz="2600">
              <a:latin typeface="Constantia"/>
              <a:cs typeface="Constantia"/>
            </a:endParaRPr>
          </a:p>
          <a:p>
            <a:pPr marL="285115" marR="584835" indent="-273050">
              <a:lnSpc>
                <a:spcPct val="100000"/>
              </a:lnSpc>
              <a:spcBef>
                <a:spcPts val="630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Judging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are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driven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meet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deadlines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while perceiving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need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more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help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developing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and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following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plans.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641349"/>
            <a:ext cx="77927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Other</a:t>
            </a:r>
            <a:r>
              <a:rPr sz="4000" b="0" spc="-14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Communication</a:t>
            </a:r>
            <a:r>
              <a:rPr sz="4000" b="0" spc="-150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Considerations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612519"/>
            <a:ext cx="8152130" cy="390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278130" indent="-273050">
              <a:lnSpc>
                <a:spcPct val="100000"/>
              </a:lnSpc>
              <a:spcBef>
                <a:spcPts val="10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Rarely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does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receiver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interpret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message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exactly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as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sender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intended.</a:t>
            </a:r>
            <a:endParaRPr sz="2600">
              <a:latin typeface="Constantia"/>
              <a:cs typeface="Constantia"/>
            </a:endParaRPr>
          </a:p>
          <a:p>
            <a:pPr marL="285115" marR="5080" indent="-273050">
              <a:lnSpc>
                <a:spcPct val="100000"/>
              </a:lnSpc>
              <a:spcBef>
                <a:spcPts val="249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Geographic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location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cultural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background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affect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the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complexity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project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communications.</a:t>
            </a:r>
            <a:endParaRPr sz="2600">
              <a:latin typeface="Constantia"/>
              <a:cs typeface="Constantia"/>
            </a:endParaRPr>
          </a:p>
          <a:p>
            <a:pPr marL="652780" lvl="1" indent="-247015">
              <a:lnSpc>
                <a:spcPct val="100000"/>
              </a:lnSpc>
              <a:spcBef>
                <a:spcPts val="2310"/>
              </a:spcBef>
              <a:buClr>
                <a:srgbClr val="666699"/>
              </a:buClr>
              <a:buSzPct val="85416"/>
              <a:buFont typeface="Wingdings"/>
              <a:buChar char=""/>
              <a:tabLst>
                <a:tab pos="652780" algn="l"/>
              </a:tabLst>
            </a:pP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Different</a:t>
            </a:r>
            <a:r>
              <a:rPr sz="24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working</a:t>
            </a:r>
            <a:r>
              <a:rPr sz="24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hours</a:t>
            </a:r>
            <a:endParaRPr sz="2400">
              <a:latin typeface="Constantia"/>
              <a:cs typeface="Constantia"/>
            </a:endParaRPr>
          </a:p>
          <a:p>
            <a:pPr marL="652780" lvl="1" indent="-247015">
              <a:lnSpc>
                <a:spcPct val="100000"/>
              </a:lnSpc>
              <a:spcBef>
                <a:spcPts val="2310"/>
              </a:spcBef>
              <a:buClr>
                <a:srgbClr val="666699"/>
              </a:buClr>
              <a:buSzPct val="85416"/>
              <a:buFont typeface="Wingdings"/>
              <a:buChar char=""/>
              <a:tabLst>
                <a:tab pos="652780" algn="l"/>
              </a:tabLst>
            </a:pP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Language</a:t>
            </a:r>
            <a:r>
              <a:rPr sz="24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barriers</a:t>
            </a:r>
            <a:endParaRPr sz="2400">
              <a:latin typeface="Constantia"/>
              <a:cs typeface="Constantia"/>
            </a:endParaRPr>
          </a:p>
          <a:p>
            <a:pPr marL="652780" lvl="1" indent="-247015">
              <a:lnSpc>
                <a:spcPct val="100000"/>
              </a:lnSpc>
              <a:spcBef>
                <a:spcPts val="2305"/>
              </a:spcBef>
              <a:buClr>
                <a:srgbClr val="666699"/>
              </a:buClr>
              <a:buSzPct val="85416"/>
              <a:buFont typeface="Wingdings"/>
              <a:buChar char=""/>
              <a:tabLst>
                <a:tab pos="652780" algn="l"/>
              </a:tabLst>
            </a:pPr>
            <a:r>
              <a:rPr sz="2400" spc="-20" dirty="0">
                <a:solidFill>
                  <a:srgbClr val="FFFFFF"/>
                </a:solidFill>
                <a:latin typeface="Constantia"/>
                <a:cs typeface="Constantia"/>
              </a:rPr>
              <a:t>Different</a:t>
            </a:r>
            <a:r>
              <a:rPr sz="24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FFFF"/>
                </a:solidFill>
                <a:latin typeface="Constantia"/>
                <a:cs typeface="Constantia"/>
              </a:rPr>
              <a:t>cultural</a:t>
            </a:r>
            <a:r>
              <a:rPr sz="2400" spc="-10" dirty="0">
                <a:solidFill>
                  <a:srgbClr val="FFFFFF"/>
                </a:solidFill>
                <a:latin typeface="Constantia"/>
                <a:cs typeface="Constantia"/>
              </a:rPr>
              <a:t> norms</a:t>
            </a:r>
            <a:endParaRPr sz="24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262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Determining</a:t>
            </a:r>
            <a:r>
              <a:rPr sz="4000" b="0" spc="-114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the</a:t>
            </a:r>
            <a:r>
              <a:rPr sz="4000" b="0" spc="-11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Number</a:t>
            </a:r>
            <a:r>
              <a:rPr sz="4000" b="0" spc="-110" dirty="0">
                <a:latin typeface="Calibri"/>
                <a:cs typeface="Calibri"/>
              </a:rPr>
              <a:t> </a:t>
            </a:r>
            <a:r>
              <a:rPr sz="4000" b="0" spc="-25" dirty="0">
                <a:latin typeface="Calibri"/>
                <a:cs typeface="Calibri"/>
              </a:rPr>
              <a:t>of </a:t>
            </a:r>
            <a:r>
              <a:rPr sz="4000" b="0" spc="-10" dirty="0">
                <a:latin typeface="Calibri"/>
                <a:cs typeface="Calibri"/>
              </a:rPr>
              <a:t>Communications</a:t>
            </a:r>
            <a:r>
              <a:rPr sz="4000" b="0" spc="-13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Channels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69719"/>
            <a:ext cx="8101965" cy="2959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As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number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involved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increases,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the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complexity</a:t>
            </a:r>
            <a:r>
              <a:rPr sz="2600" spc="-1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communications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increases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because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there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are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more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communications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channels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or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pathways through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which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can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communicate.</a:t>
            </a:r>
            <a:endParaRPr sz="2600">
              <a:latin typeface="Constantia"/>
              <a:cs typeface="Constantia"/>
            </a:endParaRPr>
          </a:p>
          <a:p>
            <a:pPr marL="285115" indent="-272415">
              <a:lnSpc>
                <a:spcPct val="100000"/>
              </a:lnSpc>
              <a:spcBef>
                <a:spcPts val="625"/>
              </a:spcBef>
              <a:buClr>
                <a:srgbClr val="666699"/>
              </a:buClr>
              <a:buSzPct val="94230"/>
              <a:buFont typeface="Wingdings"/>
              <a:buChar char=""/>
              <a:tabLst>
                <a:tab pos="285115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Number</a:t>
            </a:r>
            <a:r>
              <a:rPr sz="2600" spc="-1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 communications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channels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=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i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nstantia"/>
                <a:cs typeface="Constantia"/>
              </a:rPr>
              <a:t>n</a:t>
            </a:r>
            <a:r>
              <a:rPr sz="2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nstantia"/>
                <a:cs typeface="Constantia"/>
              </a:rPr>
              <a:t>(</a:t>
            </a:r>
            <a:r>
              <a:rPr sz="2600" i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nstantia"/>
                <a:cs typeface="Constantia"/>
              </a:rPr>
              <a:t>n-</a:t>
            </a:r>
            <a:r>
              <a:rPr sz="2600" i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nstantia"/>
                <a:cs typeface="Constantia"/>
              </a:rPr>
              <a:t>1</a:t>
            </a:r>
            <a:r>
              <a:rPr sz="26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nstantia"/>
                <a:cs typeface="Constantia"/>
              </a:rPr>
              <a:t>)</a:t>
            </a:r>
            <a:endParaRPr sz="2600">
              <a:latin typeface="Constantia"/>
              <a:cs typeface="Constantia"/>
            </a:endParaRPr>
          </a:p>
          <a:p>
            <a:pPr marL="6414135">
              <a:lnSpc>
                <a:spcPct val="100000"/>
              </a:lnSpc>
              <a:spcBef>
                <a:spcPts val="625"/>
              </a:spcBef>
            </a:pP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2</a:t>
            </a:r>
            <a:endParaRPr sz="2600">
              <a:latin typeface="Constantia"/>
              <a:cs typeface="Constantia"/>
            </a:endParaRPr>
          </a:p>
          <a:p>
            <a:pPr marL="285115">
              <a:lnSpc>
                <a:spcPct val="100000"/>
              </a:lnSpc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where</a:t>
            </a:r>
            <a:r>
              <a:rPr sz="2600" spc="-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i="1" dirty="0">
                <a:solidFill>
                  <a:srgbClr val="FFFFFF"/>
                </a:solidFill>
                <a:latin typeface="Constantia"/>
                <a:cs typeface="Constantia"/>
              </a:rPr>
              <a:t>n</a:t>
            </a:r>
            <a:r>
              <a:rPr sz="2600" i="1" spc="1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is</a:t>
            </a:r>
            <a:r>
              <a:rPr sz="26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number</a:t>
            </a:r>
            <a:r>
              <a:rPr sz="2600" spc="-17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people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involved.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900" y="3759"/>
            <a:ext cx="73787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Calibri"/>
                <a:cs typeface="Calibri"/>
              </a:rPr>
              <a:t>The</a:t>
            </a:r>
            <a:r>
              <a:rPr sz="3600" b="0" spc="-40" dirty="0">
                <a:latin typeface="Calibri"/>
                <a:cs typeface="Calibri"/>
              </a:rPr>
              <a:t> </a:t>
            </a:r>
            <a:r>
              <a:rPr sz="3600" b="0" dirty="0">
                <a:latin typeface="Calibri"/>
                <a:cs typeface="Calibri"/>
              </a:rPr>
              <a:t>Impact</a:t>
            </a:r>
            <a:r>
              <a:rPr sz="3600" b="0" spc="-55" dirty="0">
                <a:latin typeface="Calibri"/>
                <a:cs typeface="Calibri"/>
              </a:rPr>
              <a:t> </a:t>
            </a:r>
            <a:r>
              <a:rPr sz="3600" b="0" dirty="0">
                <a:latin typeface="Calibri"/>
                <a:cs typeface="Calibri"/>
              </a:rPr>
              <a:t>of</a:t>
            </a:r>
            <a:r>
              <a:rPr sz="3600" b="0" spc="-30" dirty="0">
                <a:latin typeface="Calibri"/>
                <a:cs typeface="Calibri"/>
              </a:rPr>
              <a:t> </a:t>
            </a:r>
            <a:r>
              <a:rPr sz="3600" b="0" dirty="0">
                <a:latin typeface="Calibri"/>
                <a:cs typeface="Calibri"/>
              </a:rPr>
              <a:t>the</a:t>
            </a:r>
            <a:r>
              <a:rPr sz="3600" b="0" spc="-40" dirty="0">
                <a:latin typeface="Calibri"/>
                <a:cs typeface="Calibri"/>
              </a:rPr>
              <a:t> </a:t>
            </a:r>
            <a:r>
              <a:rPr sz="3600" b="0" dirty="0">
                <a:latin typeface="Calibri"/>
                <a:cs typeface="Calibri"/>
              </a:rPr>
              <a:t>Number</a:t>
            </a:r>
            <a:r>
              <a:rPr sz="3600" b="0" spc="-60" dirty="0">
                <a:latin typeface="Calibri"/>
                <a:cs typeface="Calibri"/>
              </a:rPr>
              <a:t> </a:t>
            </a:r>
            <a:r>
              <a:rPr sz="3600" b="0" dirty="0">
                <a:latin typeface="Calibri"/>
                <a:cs typeface="Calibri"/>
              </a:rPr>
              <a:t>of</a:t>
            </a:r>
            <a:r>
              <a:rPr sz="3600" b="0" spc="-30" dirty="0">
                <a:latin typeface="Calibri"/>
                <a:cs typeface="Calibri"/>
              </a:rPr>
              <a:t> </a:t>
            </a:r>
            <a:r>
              <a:rPr sz="3600" b="0" dirty="0">
                <a:latin typeface="Calibri"/>
                <a:cs typeface="Calibri"/>
              </a:rPr>
              <a:t>People</a:t>
            </a:r>
            <a:r>
              <a:rPr sz="3600" b="0" spc="-25" dirty="0">
                <a:latin typeface="Calibri"/>
                <a:cs typeface="Calibri"/>
              </a:rPr>
              <a:t> on </a:t>
            </a:r>
            <a:r>
              <a:rPr sz="3600" b="0" spc="-10" dirty="0">
                <a:latin typeface="Calibri"/>
                <a:cs typeface="Calibri"/>
              </a:rPr>
              <a:t>Communications</a:t>
            </a:r>
            <a:r>
              <a:rPr sz="3600" b="0" spc="-114" dirty="0">
                <a:latin typeface="Calibri"/>
                <a:cs typeface="Calibri"/>
              </a:rPr>
              <a:t> </a:t>
            </a:r>
            <a:r>
              <a:rPr sz="3600" b="0" spc="-10" dirty="0">
                <a:latin typeface="Calibri"/>
                <a:cs typeface="Calibri"/>
              </a:rPr>
              <a:t>Channels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295400"/>
            <a:ext cx="7620000" cy="49438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93522"/>
            <a:ext cx="54667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solidFill>
                  <a:srgbClr val="FFFFFF"/>
                </a:solidFill>
                <a:latin typeface="Tahoma"/>
                <a:cs typeface="Tahoma"/>
              </a:rPr>
              <a:t>Monitor</a:t>
            </a:r>
            <a:r>
              <a:rPr sz="4000" b="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0" spc="-45" dirty="0">
                <a:solidFill>
                  <a:srgbClr val="FFFFFF"/>
                </a:solidFill>
                <a:latin typeface="Tahoma"/>
                <a:cs typeface="Tahoma"/>
              </a:rPr>
              <a:t>Communications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462481"/>
            <a:ext cx="8400415" cy="454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26034" indent="-274955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Also</a:t>
            </a:r>
            <a:r>
              <a:rPr sz="2600" spc="-4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performed</a:t>
            </a:r>
            <a:r>
              <a:rPr sz="2600" spc="-4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throughout</a:t>
            </a:r>
            <a:r>
              <a:rPr sz="2600" spc="-4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-5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project,</a:t>
            </a:r>
            <a:r>
              <a:rPr sz="2600" spc="5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2600" spc="-4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process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ensures</a:t>
            </a:r>
            <a:r>
              <a:rPr sz="2600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600" spc="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2600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600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600" spc="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techniques</a:t>
            </a:r>
            <a:r>
              <a:rPr sz="2600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methods</a:t>
            </a:r>
            <a:r>
              <a:rPr sz="2600" spc="3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you’re</a:t>
            </a:r>
            <a:r>
              <a:rPr sz="2600" spc="3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sz="2600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2600" spc="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including</a:t>
            </a:r>
            <a:r>
              <a:rPr sz="2600" spc="3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3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monitoring</a:t>
            </a:r>
            <a:r>
              <a:rPr sz="2600" spc="3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control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40" dirty="0">
                <a:solidFill>
                  <a:srgbClr val="FFFFFF"/>
                </a:solidFill>
                <a:latin typeface="Tahoma"/>
                <a:cs typeface="Tahoma"/>
              </a:rPr>
              <a:t>measures</a:t>
            </a:r>
            <a:r>
              <a:rPr sz="2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place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2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follow</a:t>
            </a:r>
            <a:r>
              <a:rPr sz="26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project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6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plan.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35"/>
              </a:spcBef>
              <a:buClr>
                <a:srgbClr val="0AD0D9"/>
              </a:buClr>
              <a:buFont typeface="Segoe UI Symbol"/>
              <a:buChar char="⚫"/>
            </a:pPr>
            <a:endParaRPr sz="2600">
              <a:latin typeface="Tahoma"/>
              <a:cs typeface="Tahoma"/>
            </a:endParaRPr>
          </a:p>
          <a:p>
            <a:pPr marL="285115" marR="5080" indent="-274955" algn="just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spc="-125" dirty="0">
                <a:solidFill>
                  <a:srgbClr val="FFFFFF"/>
                </a:solidFill>
                <a:latin typeface="Tahoma"/>
                <a:cs typeface="Tahoma"/>
              </a:rPr>
              <a:t>It’s</a:t>
            </a:r>
            <a:r>
              <a:rPr sz="26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also</a:t>
            </a:r>
            <a:r>
              <a:rPr sz="26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26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26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stage</a:t>
            </a:r>
            <a:r>
              <a:rPr sz="26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6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6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gauge</a:t>
            </a:r>
            <a:r>
              <a:rPr sz="26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whether</a:t>
            </a:r>
            <a:r>
              <a:rPr sz="26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6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26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your </a:t>
            </a:r>
            <a:r>
              <a:rPr sz="2600" spc="-40" dirty="0">
                <a:solidFill>
                  <a:srgbClr val="FFFFFF"/>
                </a:solidFill>
                <a:latin typeface="Tahoma"/>
                <a:cs typeface="Tahoma"/>
              </a:rPr>
              <a:t>approaches</a:t>
            </a:r>
            <a:r>
              <a:rPr sz="26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26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producing</a:t>
            </a:r>
            <a:r>
              <a:rPr sz="26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desired</a:t>
            </a:r>
            <a:r>
              <a:rPr sz="26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60" dirty="0">
                <a:solidFill>
                  <a:srgbClr val="FFFFFF"/>
                </a:solidFill>
                <a:latin typeface="Tahoma"/>
                <a:cs typeface="Tahoma"/>
              </a:rPr>
              <a:t>results.</a:t>
            </a:r>
            <a:r>
              <a:rPr sz="26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Otherwise,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600" spc="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may</a:t>
            </a:r>
            <a:r>
              <a:rPr sz="2600" spc="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2600" spc="2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600" spc="2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2600" spc="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some</a:t>
            </a:r>
            <a:r>
              <a:rPr sz="2600" spc="2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adjustments</a:t>
            </a:r>
            <a:r>
              <a:rPr sz="2600" spc="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600" spc="2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order</a:t>
            </a:r>
            <a:r>
              <a:rPr sz="2600" spc="2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prevent</a:t>
            </a:r>
            <a:r>
              <a:rPr sz="2600" spc="4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any</a:t>
            </a:r>
            <a:r>
              <a:rPr sz="2600" spc="3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600" spc="4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issues</a:t>
            </a:r>
            <a:r>
              <a:rPr sz="2600" spc="3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2600" spc="40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affecting</a:t>
            </a:r>
            <a:r>
              <a:rPr sz="2600" spc="4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project.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93522"/>
            <a:ext cx="6885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solidFill>
                  <a:srgbClr val="FFFFFF"/>
                </a:solidFill>
                <a:latin typeface="Tahoma"/>
                <a:cs typeface="Tahoma"/>
              </a:rPr>
              <a:t>Monitor</a:t>
            </a:r>
            <a:r>
              <a:rPr sz="4000" b="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0" spc="-50" dirty="0">
                <a:solidFill>
                  <a:srgbClr val="FFFFFF"/>
                </a:solidFill>
                <a:latin typeface="Tahoma"/>
                <a:cs typeface="Tahoma"/>
              </a:rPr>
              <a:t>Communications</a:t>
            </a:r>
            <a:r>
              <a:rPr sz="4000" b="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0" spc="-165" dirty="0">
                <a:solidFill>
                  <a:srgbClr val="FFFFFF"/>
                </a:solidFill>
                <a:latin typeface="Tahoma"/>
                <a:cs typeface="Tahoma"/>
              </a:rPr>
              <a:t>(Cont)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374260"/>
            <a:ext cx="8377555" cy="36334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800" b="1" spc="-240" dirty="0">
                <a:solidFill>
                  <a:srgbClr val="FFFFFF"/>
                </a:solidFill>
                <a:latin typeface="Tahoma"/>
                <a:cs typeface="Tahoma"/>
              </a:rPr>
              <a:t>Actions</a:t>
            </a:r>
            <a:r>
              <a:rPr sz="28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3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8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60" dirty="0">
                <a:solidFill>
                  <a:srgbClr val="FFFFFF"/>
                </a:solidFill>
                <a:latin typeface="Tahoma"/>
                <a:cs typeface="Tahoma"/>
              </a:rPr>
              <a:t>carry</a:t>
            </a:r>
            <a:r>
              <a:rPr sz="280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40" dirty="0">
                <a:solidFill>
                  <a:srgbClr val="FFFFFF"/>
                </a:solidFill>
                <a:latin typeface="Tahoma"/>
                <a:cs typeface="Tahoma"/>
              </a:rPr>
              <a:t>out</a:t>
            </a:r>
            <a:r>
              <a:rPr sz="28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19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8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15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28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60" dirty="0">
                <a:solidFill>
                  <a:srgbClr val="FFFFFF"/>
                </a:solidFill>
                <a:latin typeface="Tahoma"/>
                <a:cs typeface="Tahoma"/>
              </a:rPr>
              <a:t>process</a:t>
            </a:r>
            <a:r>
              <a:rPr sz="28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Tahoma"/>
                <a:cs typeface="Tahoma"/>
              </a:rPr>
              <a:t>include:</a:t>
            </a:r>
            <a:endParaRPr sz="2800">
              <a:latin typeface="Tahoma"/>
              <a:cs typeface="Tahoma"/>
            </a:endParaRPr>
          </a:p>
          <a:p>
            <a:pPr marL="285115" indent="-272415">
              <a:lnSpc>
                <a:spcPct val="100000"/>
              </a:lnSpc>
              <a:spcBef>
                <a:spcPts val="640"/>
              </a:spcBef>
              <a:buClr>
                <a:srgbClr val="0AD0D9"/>
              </a:buClr>
              <a:buSzPct val="94230"/>
              <a:buFont typeface="Arial MT"/>
              <a:buChar char="•"/>
              <a:tabLst>
                <a:tab pos="285115" algn="l"/>
              </a:tabLst>
            </a:pPr>
            <a:r>
              <a:rPr sz="2600" spc="-60" dirty="0">
                <a:solidFill>
                  <a:srgbClr val="FFFFFF"/>
                </a:solidFill>
                <a:latin typeface="Tahoma"/>
                <a:cs typeface="Tahoma"/>
              </a:rPr>
              <a:t>Verify</a:t>
            </a:r>
            <a:r>
              <a:rPr sz="26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6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35" dirty="0">
                <a:solidFill>
                  <a:srgbClr val="FFFFFF"/>
                </a:solidFill>
                <a:latin typeface="Tahoma"/>
                <a:cs typeface="Tahoma"/>
              </a:rPr>
              <a:t>communications</a:t>
            </a:r>
            <a:r>
              <a:rPr sz="26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go</a:t>
            </a:r>
            <a:r>
              <a:rPr sz="26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out</a:t>
            </a:r>
            <a:r>
              <a:rPr sz="26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8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26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scheduled.</a:t>
            </a:r>
            <a:endParaRPr sz="2600">
              <a:latin typeface="Tahoma"/>
              <a:cs typeface="Tahoma"/>
            </a:endParaRPr>
          </a:p>
          <a:p>
            <a:pPr marL="285115" marR="8255" indent="-27305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Arial MT"/>
              <a:buChar char="•"/>
              <a:tabLst>
                <a:tab pos="285115" algn="l"/>
                <a:tab pos="1306195" algn="l"/>
                <a:tab pos="2113915" algn="l"/>
                <a:tab pos="2812415" algn="l"/>
                <a:tab pos="3723640" algn="l"/>
                <a:tab pos="5752465" algn="l"/>
                <a:tab pos="6988809" algn="l"/>
                <a:tab pos="7688580" algn="l"/>
              </a:tabLst>
            </a:pP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Verify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right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stakeholders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receive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right communications.</a:t>
            </a:r>
            <a:endParaRPr sz="2600">
              <a:latin typeface="Tahoma"/>
              <a:cs typeface="Tahoma"/>
            </a:endParaRPr>
          </a:p>
          <a:p>
            <a:pPr marL="285115" marR="5080" indent="-27305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Arial MT"/>
              <a:buChar char="•"/>
              <a:tabLst>
                <a:tab pos="285115" algn="l"/>
              </a:tabLst>
            </a:pPr>
            <a:r>
              <a:rPr sz="2600" spc="-30" dirty="0">
                <a:solidFill>
                  <a:srgbClr val="FFFFFF"/>
                </a:solidFill>
                <a:latin typeface="Tahoma"/>
                <a:cs typeface="Tahoma"/>
              </a:rPr>
              <a:t>Verify</a:t>
            </a:r>
            <a:r>
              <a:rPr sz="26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6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stakeholders</a:t>
            </a:r>
            <a:r>
              <a:rPr sz="26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understand</a:t>
            </a:r>
            <a:r>
              <a:rPr sz="26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communications </a:t>
            </a:r>
            <a:r>
              <a:rPr sz="2600" spc="-65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26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receive.</a:t>
            </a:r>
            <a:endParaRPr sz="2600">
              <a:latin typeface="Tahoma"/>
              <a:cs typeface="Tahoma"/>
            </a:endParaRPr>
          </a:p>
          <a:p>
            <a:pPr marL="285115" marR="6985" indent="-273050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Arial MT"/>
              <a:buChar char="•"/>
              <a:tabLst>
                <a:tab pos="285115" algn="l"/>
              </a:tabLst>
            </a:pPr>
            <a:r>
              <a:rPr sz="2600" spc="-55" dirty="0">
                <a:solidFill>
                  <a:srgbClr val="FFFFFF"/>
                </a:solidFill>
                <a:latin typeface="Tahoma"/>
                <a:cs typeface="Tahoma"/>
              </a:rPr>
              <a:t>Verify</a:t>
            </a:r>
            <a:r>
              <a:rPr sz="26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6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relevant</a:t>
            </a:r>
            <a:r>
              <a:rPr sz="26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55" dirty="0">
                <a:solidFill>
                  <a:srgbClr val="FFFFFF"/>
                </a:solidFill>
                <a:latin typeface="Tahoma"/>
                <a:cs typeface="Tahoma"/>
              </a:rPr>
              <a:t>feedback</a:t>
            </a:r>
            <a:r>
              <a:rPr sz="26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6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sz="26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reach</a:t>
            </a:r>
            <a:r>
              <a:rPr sz="26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right people.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93522"/>
            <a:ext cx="6885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solidFill>
                  <a:srgbClr val="FFFFFF"/>
                </a:solidFill>
                <a:latin typeface="Tahoma"/>
                <a:cs typeface="Tahoma"/>
              </a:rPr>
              <a:t>Monitor</a:t>
            </a:r>
            <a:r>
              <a:rPr sz="4000" b="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0" spc="-50" dirty="0">
                <a:solidFill>
                  <a:srgbClr val="FFFFFF"/>
                </a:solidFill>
                <a:latin typeface="Tahoma"/>
                <a:cs typeface="Tahoma"/>
              </a:rPr>
              <a:t>Communications</a:t>
            </a:r>
            <a:r>
              <a:rPr sz="4000" b="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0" spc="-165" dirty="0">
                <a:solidFill>
                  <a:srgbClr val="FFFFFF"/>
                </a:solidFill>
                <a:latin typeface="Tahoma"/>
                <a:cs typeface="Tahoma"/>
              </a:rPr>
              <a:t>(Cont)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461642"/>
            <a:ext cx="8377555" cy="3576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315" dirty="0">
                <a:solidFill>
                  <a:srgbClr val="FFFFFF"/>
                </a:solidFill>
                <a:latin typeface="Tahoma"/>
                <a:cs typeface="Tahoma"/>
              </a:rPr>
              <a:t>Some</a:t>
            </a:r>
            <a:r>
              <a:rPr sz="2800" b="1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1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8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5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800" b="1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5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800" b="1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305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2800" b="1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75" dirty="0">
                <a:solidFill>
                  <a:srgbClr val="FFFFFF"/>
                </a:solidFill>
                <a:latin typeface="Tahoma"/>
                <a:cs typeface="Tahoma"/>
              </a:rPr>
              <a:t>documents</a:t>
            </a:r>
            <a:r>
              <a:rPr sz="2800" b="1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145" dirty="0">
                <a:solidFill>
                  <a:srgbClr val="FFFFFF"/>
                </a:solidFill>
                <a:latin typeface="Tahoma"/>
                <a:cs typeface="Tahoma"/>
              </a:rPr>
              <a:t>you'll</a:t>
            </a:r>
            <a:r>
              <a:rPr sz="28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90" dirty="0">
                <a:solidFill>
                  <a:srgbClr val="FFFFFF"/>
                </a:solidFill>
                <a:latin typeface="Tahoma"/>
                <a:cs typeface="Tahoma"/>
              </a:rPr>
              <a:t>be </a:t>
            </a:r>
            <a:r>
              <a:rPr sz="2800" b="1" spc="-240" dirty="0">
                <a:solidFill>
                  <a:srgbClr val="FFFFFF"/>
                </a:solidFill>
                <a:latin typeface="Tahoma"/>
                <a:cs typeface="Tahoma"/>
              </a:rPr>
              <a:t>creating</a:t>
            </a:r>
            <a:r>
              <a:rPr sz="28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4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8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54" dirty="0">
                <a:solidFill>
                  <a:srgbClr val="FFFFFF"/>
                </a:solidFill>
                <a:latin typeface="Tahoma"/>
                <a:cs typeface="Tahoma"/>
              </a:rPr>
              <a:t>updating</a:t>
            </a:r>
            <a:r>
              <a:rPr sz="28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Tahoma"/>
                <a:cs typeface="Tahoma"/>
              </a:rPr>
              <a:t>include:</a:t>
            </a:r>
            <a:endParaRPr sz="2800">
              <a:latin typeface="Tahoma"/>
              <a:cs typeface="Tahoma"/>
            </a:endParaRPr>
          </a:p>
          <a:p>
            <a:pPr marL="285115" indent="-272415">
              <a:lnSpc>
                <a:spcPct val="100000"/>
              </a:lnSpc>
              <a:spcBef>
                <a:spcPts val="645"/>
              </a:spcBef>
              <a:buClr>
                <a:srgbClr val="0AD0D9"/>
              </a:buClr>
              <a:buSzPct val="94230"/>
              <a:buFont typeface="Arial MT"/>
              <a:buChar char="•"/>
              <a:tabLst>
                <a:tab pos="285115" algn="l"/>
              </a:tabLst>
            </a:pPr>
            <a:r>
              <a:rPr sz="2600" spc="-45" dirty="0">
                <a:solidFill>
                  <a:srgbClr val="FFFFFF"/>
                </a:solidFill>
                <a:latin typeface="Tahoma"/>
                <a:cs typeface="Tahoma"/>
              </a:rPr>
              <a:t>Change</a:t>
            </a:r>
            <a:r>
              <a:rPr sz="26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requests</a:t>
            </a:r>
            <a:endParaRPr sz="2600">
              <a:latin typeface="Tahoma"/>
              <a:cs typeface="Tahoma"/>
            </a:endParaRPr>
          </a:p>
          <a:p>
            <a:pPr marL="285115" indent="-27241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Arial MT"/>
              <a:buChar char="•"/>
              <a:tabLst>
                <a:tab pos="285115" algn="l"/>
              </a:tabLst>
            </a:pPr>
            <a:r>
              <a:rPr sz="2600" spc="-120" dirty="0">
                <a:solidFill>
                  <a:srgbClr val="FFFFFF"/>
                </a:solidFill>
                <a:latin typeface="Tahoma"/>
                <a:cs typeface="Tahoma"/>
              </a:rPr>
              <a:t>Work</a:t>
            </a:r>
            <a:r>
              <a:rPr sz="2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55" dirty="0">
                <a:solidFill>
                  <a:srgbClr val="FFFFFF"/>
                </a:solidFill>
                <a:latin typeface="Tahoma"/>
                <a:cs typeface="Tahoma"/>
              </a:rPr>
              <a:t>performance</a:t>
            </a:r>
            <a:r>
              <a:rPr sz="26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reports</a:t>
            </a:r>
            <a:endParaRPr sz="2600">
              <a:latin typeface="Tahoma"/>
              <a:cs typeface="Tahoma"/>
            </a:endParaRPr>
          </a:p>
          <a:p>
            <a:pPr marL="285115" marR="5080" indent="-27305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Arial MT"/>
              <a:buChar char="•"/>
              <a:tabLst>
                <a:tab pos="285115" algn="l"/>
                <a:tab pos="3109595" algn="l"/>
                <a:tab pos="5575935" algn="l"/>
                <a:tab pos="6711315" algn="l"/>
              </a:tabLst>
            </a:pP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600" spc="-35" dirty="0">
                <a:solidFill>
                  <a:srgbClr val="FFFFFF"/>
                </a:solidFill>
                <a:latin typeface="Tahoma"/>
                <a:cs typeface="Tahoma"/>
              </a:rPr>
              <a:t>stakeholder </a:t>
            </a:r>
            <a:r>
              <a:rPr sz="2600" spc="-40" dirty="0">
                <a:solidFill>
                  <a:srgbClr val="FFFFFF"/>
                </a:solidFill>
                <a:latin typeface="Tahoma"/>
                <a:cs typeface="Tahoma"/>
              </a:rPr>
              <a:t>engagement</a:t>
            </a:r>
            <a:r>
              <a:rPr sz="26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plans</a:t>
            </a:r>
            <a:endParaRPr sz="2600">
              <a:latin typeface="Tahoma"/>
              <a:cs typeface="Tahoma"/>
            </a:endParaRPr>
          </a:p>
          <a:p>
            <a:pPr marL="285115" marR="8255" indent="-27305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Arial MT"/>
              <a:buChar char="•"/>
              <a:tabLst>
                <a:tab pos="285115" algn="l"/>
              </a:tabLst>
            </a:pP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26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relevant</a:t>
            </a:r>
            <a:r>
              <a:rPr sz="2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FFFFFF"/>
                </a:solidFill>
                <a:latin typeface="Tahoma"/>
                <a:cs typeface="Tahoma"/>
              </a:rPr>
              <a:t>documents,</a:t>
            </a:r>
            <a:r>
              <a:rPr sz="26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such</a:t>
            </a:r>
            <a:r>
              <a:rPr sz="26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26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issue</a:t>
            </a:r>
            <a:r>
              <a:rPr sz="2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log </a:t>
            </a:r>
            <a:r>
              <a:rPr sz="2600" spc="-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6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6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stakeholder</a:t>
            </a:r>
            <a:r>
              <a:rPr sz="26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register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2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Issue</a:t>
            </a:r>
            <a:r>
              <a:rPr sz="5000" b="0" spc="-25" dirty="0">
                <a:latin typeface="Calibri"/>
                <a:cs typeface="Calibri"/>
              </a:rPr>
              <a:t> Log</a:t>
            </a:r>
            <a:endParaRPr sz="5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795272"/>
            <a:ext cx="8839200" cy="47444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497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pc="-400" dirty="0">
                <a:solidFill>
                  <a:srgbClr val="FFFFFF"/>
                </a:solidFill>
                <a:latin typeface="Tahoma"/>
                <a:cs typeface="Tahoma"/>
              </a:rPr>
              <a:t>How</a:t>
            </a:r>
            <a:r>
              <a:rPr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5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95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85" dirty="0">
                <a:solidFill>
                  <a:srgbClr val="FFFFFF"/>
                </a:solidFill>
                <a:latin typeface="Tahoma"/>
                <a:cs typeface="Tahoma"/>
              </a:rPr>
              <a:t>Successful</a:t>
            </a:r>
            <a:r>
              <a:rPr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8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85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325" dirty="0">
                <a:solidFill>
                  <a:srgbClr val="FFFFFF"/>
                </a:solidFill>
                <a:latin typeface="Tahoma"/>
                <a:cs typeface="Tahoma"/>
              </a:rPr>
              <a:t>Communication Management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93039" y="1866138"/>
            <a:ext cx="8759190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2000" spc="3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000" spc="3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initiation</a:t>
            </a:r>
            <a:r>
              <a:rPr sz="2000" spc="3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3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closing,</a:t>
            </a:r>
            <a:r>
              <a:rPr sz="2000" spc="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effective</a:t>
            </a:r>
            <a:r>
              <a:rPr sz="2000" spc="3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000" spc="3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drives</a:t>
            </a:r>
            <a:r>
              <a:rPr sz="2000" spc="3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project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management.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Creating</a:t>
            </a:r>
            <a:r>
              <a:rPr sz="20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4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000" b="1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30" dirty="0">
                <a:solidFill>
                  <a:srgbClr val="FFFFFF"/>
                </a:solidFill>
                <a:latin typeface="Tahoma"/>
                <a:cs typeface="Tahoma"/>
              </a:rPr>
              <a:t>proposal</a:t>
            </a:r>
            <a:r>
              <a:rPr sz="2000" b="1" spc="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0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20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compel</a:t>
            </a:r>
            <a:r>
              <a:rPr sz="2000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investors</a:t>
            </a:r>
            <a:r>
              <a:rPr sz="200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act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favorably</a:t>
            </a:r>
            <a:r>
              <a:rPr sz="20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requires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excellent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skills.</a:t>
            </a:r>
            <a:r>
              <a:rPr sz="2000" spc="-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same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true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for:</a:t>
            </a:r>
            <a:endParaRPr sz="2000">
              <a:latin typeface="Tahoma"/>
              <a:cs typeface="Tahoma"/>
            </a:endParaRPr>
          </a:p>
          <a:p>
            <a:pPr marL="652145" lvl="1" indent="-246379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Arial MT"/>
              <a:buChar char="•"/>
              <a:tabLst>
                <a:tab pos="652145" algn="l"/>
              </a:tabLst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Negotiating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contracts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vendors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suppliers</a:t>
            </a:r>
            <a:endParaRPr sz="2000">
              <a:latin typeface="Tahoma"/>
              <a:cs typeface="Tahoma"/>
            </a:endParaRPr>
          </a:p>
          <a:p>
            <a:pPr marL="652145" lvl="1" indent="-246379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Arial MT"/>
              <a:buChar char="•"/>
              <a:tabLst>
                <a:tab pos="652145" algn="l"/>
              </a:tabLst>
            </a:pPr>
            <a:r>
              <a:rPr sz="2000" b="1" spc="-180" dirty="0">
                <a:solidFill>
                  <a:srgbClr val="FFFFFF"/>
                </a:solidFill>
                <a:latin typeface="Tahoma"/>
                <a:cs typeface="Tahoma"/>
              </a:rPr>
              <a:t>Gathering</a:t>
            </a:r>
            <a:r>
              <a:rPr sz="20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90" dirty="0">
                <a:solidFill>
                  <a:srgbClr val="FFFFFF"/>
                </a:solidFill>
                <a:latin typeface="Tahoma"/>
                <a:cs typeface="Tahoma"/>
              </a:rPr>
              <a:t>project’s</a:t>
            </a:r>
            <a:r>
              <a:rPr sz="200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ahoma"/>
                <a:cs typeface="Tahoma"/>
              </a:rPr>
              <a:t>requirements</a:t>
            </a:r>
            <a:endParaRPr sz="2000">
              <a:latin typeface="Tahoma"/>
              <a:cs typeface="Tahoma"/>
            </a:endParaRPr>
          </a:p>
          <a:p>
            <a:pPr marL="652145" lvl="1" indent="-246379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Arial MT"/>
              <a:buChar char="•"/>
              <a:tabLst>
                <a:tab pos="652145" algn="l"/>
              </a:tabLst>
            </a:pP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Interviewing</a:t>
            </a:r>
            <a:r>
              <a:rPr sz="20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stakeholders</a:t>
            </a:r>
            <a:r>
              <a:rPr sz="20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understand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needs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expectations</a:t>
            </a:r>
            <a:endParaRPr sz="2000">
              <a:latin typeface="Tahoma"/>
              <a:cs typeface="Tahoma"/>
            </a:endParaRPr>
          </a:p>
          <a:p>
            <a:pPr marL="652145" lvl="1" indent="-246379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Arial MT"/>
              <a:buChar char="•"/>
              <a:tabLst>
                <a:tab pos="65214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Planning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endParaRPr sz="2000">
              <a:latin typeface="Tahoma"/>
              <a:cs typeface="Tahoma"/>
            </a:endParaRPr>
          </a:p>
          <a:p>
            <a:pPr marL="652145" lvl="1" indent="-246379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Arial MT"/>
              <a:buChar char="•"/>
              <a:tabLst>
                <a:tab pos="65214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Dividing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into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work</a:t>
            </a:r>
            <a:r>
              <a:rPr sz="20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packages</a:t>
            </a:r>
            <a:endParaRPr sz="2000">
              <a:latin typeface="Tahoma"/>
              <a:cs typeface="Tahoma"/>
            </a:endParaRPr>
          </a:p>
          <a:p>
            <a:pPr marL="652145" lvl="1" indent="-246379">
              <a:lnSpc>
                <a:spcPct val="100000"/>
              </a:lnSpc>
              <a:spcBef>
                <a:spcPts val="484"/>
              </a:spcBef>
              <a:buClr>
                <a:srgbClr val="0E6EC5"/>
              </a:buClr>
              <a:buSzPct val="85000"/>
              <a:buFont typeface="Arial MT"/>
              <a:buChar char="•"/>
              <a:tabLst>
                <a:tab pos="652145" algn="l"/>
              </a:tabLst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Assigning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tasks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responsibilities</a:t>
            </a:r>
            <a:r>
              <a:rPr sz="20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members</a:t>
            </a:r>
            <a:endParaRPr sz="2000">
              <a:latin typeface="Tahoma"/>
              <a:cs typeface="Tahoma"/>
            </a:endParaRPr>
          </a:p>
          <a:p>
            <a:pPr marL="652145" lvl="1" indent="-246379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Arial MT"/>
              <a:buChar char="•"/>
              <a:tabLst>
                <a:tab pos="65214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Building</a:t>
            </a:r>
            <a:r>
              <a:rPr sz="20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winning</a:t>
            </a:r>
            <a:r>
              <a:rPr sz="20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2000">
              <a:latin typeface="Tahoma"/>
              <a:cs typeface="Tahoma"/>
            </a:endParaRPr>
          </a:p>
          <a:p>
            <a:pPr marL="652145" lvl="1" indent="-246379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Arial MT"/>
              <a:buChar char="•"/>
              <a:tabLst>
                <a:tab pos="65214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Facilitating</a:t>
            </a:r>
            <a:r>
              <a:rPr sz="20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meetings</a:t>
            </a:r>
            <a:endParaRPr sz="2000">
              <a:latin typeface="Tahoma"/>
              <a:cs typeface="Tahoma"/>
            </a:endParaRPr>
          </a:p>
          <a:p>
            <a:pPr marL="652145" lvl="1" indent="-246379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Arial MT"/>
              <a:buChar char="•"/>
              <a:tabLst>
                <a:tab pos="652145" algn="l"/>
              </a:tabLst>
            </a:pP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Keeping</a:t>
            </a:r>
            <a:r>
              <a:rPr sz="20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track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project’s</a:t>
            </a:r>
            <a:r>
              <a:rPr sz="20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progress</a:t>
            </a:r>
            <a:endParaRPr sz="2000">
              <a:latin typeface="Tahoma"/>
              <a:cs typeface="Tahoma"/>
            </a:endParaRPr>
          </a:p>
          <a:p>
            <a:pPr marL="652145" lvl="1" indent="-246379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Arial MT"/>
              <a:buChar char="•"/>
              <a:tabLst>
                <a:tab pos="652145" algn="l"/>
              </a:tabLst>
            </a:pP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Writing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reports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513333"/>
            <a:ext cx="823404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pc="-400" dirty="0">
                <a:solidFill>
                  <a:srgbClr val="FFFFFF"/>
                </a:solidFill>
                <a:latin typeface="Tahoma"/>
                <a:cs typeface="Tahoma"/>
              </a:rPr>
              <a:t>How</a:t>
            </a:r>
            <a:r>
              <a:rPr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5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95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85" dirty="0">
                <a:solidFill>
                  <a:srgbClr val="FFFFFF"/>
                </a:solidFill>
                <a:latin typeface="Tahoma"/>
                <a:cs typeface="Tahoma"/>
              </a:rPr>
              <a:t>Successful</a:t>
            </a:r>
            <a:r>
              <a:rPr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8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85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325" dirty="0">
                <a:solidFill>
                  <a:srgbClr val="FFFFFF"/>
                </a:solidFill>
                <a:latin typeface="Tahoma"/>
                <a:cs typeface="Tahoma"/>
              </a:rPr>
              <a:t>Communication </a:t>
            </a:r>
            <a:r>
              <a:rPr spc="-33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31140" y="1694814"/>
            <a:ext cx="8761095" cy="4291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9525" indent="-273050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then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there’s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diversity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workplace.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Many</a:t>
            </a:r>
            <a:r>
              <a:rPr sz="20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today’s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teams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are 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composed</a:t>
            </a:r>
            <a:r>
              <a:rPr sz="20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diverse</a:t>
            </a:r>
            <a:r>
              <a:rPr sz="20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groups</a:t>
            </a:r>
            <a:r>
              <a:rPr sz="20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people.</a:t>
            </a:r>
            <a:endParaRPr sz="2000">
              <a:latin typeface="Tahoma"/>
              <a:cs typeface="Tahoma"/>
            </a:endParaRPr>
          </a:p>
          <a:p>
            <a:pPr marL="285115" marR="6985" indent="-273050" algn="just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Even</a:t>
            </a:r>
            <a:r>
              <a:rPr sz="20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among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small,</a:t>
            </a:r>
            <a:r>
              <a:rPr sz="20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local</a:t>
            </a:r>
            <a:r>
              <a:rPr sz="20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teams,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communication</a:t>
            </a:r>
            <a:r>
              <a:rPr sz="20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challenges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abound.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want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everyone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same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page.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0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want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people</a:t>
            </a:r>
            <a:r>
              <a:rPr sz="20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interest</a:t>
            </a:r>
            <a:r>
              <a:rPr sz="20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 project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know</a:t>
            </a:r>
            <a:r>
              <a:rPr sz="20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what’s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going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000" spc="-2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20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just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Tahoma"/>
                <a:cs typeface="Tahoma"/>
              </a:rPr>
              <a:t>once,</a:t>
            </a:r>
            <a:r>
              <a:rPr sz="20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but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regular</a:t>
            </a:r>
            <a:r>
              <a:rPr sz="20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basis.</a:t>
            </a:r>
            <a:endParaRPr sz="2000">
              <a:latin typeface="Tahoma"/>
              <a:cs typeface="Tahoma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want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everyone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 involved</a:t>
            </a:r>
            <a:r>
              <a:rPr sz="20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understand</a:t>
            </a:r>
            <a:r>
              <a:rPr sz="20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project’s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priorities,</a:t>
            </a:r>
            <a:r>
              <a:rPr sz="20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as well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as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risks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opportunities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presents.</a:t>
            </a:r>
            <a:endParaRPr sz="2000">
              <a:latin typeface="Tahoma"/>
              <a:cs typeface="Tahoma"/>
            </a:endParaRPr>
          </a:p>
          <a:p>
            <a:pPr marL="285115" marR="5715" indent="-273050" algn="just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000" spc="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want</a:t>
            </a:r>
            <a:r>
              <a:rPr sz="2000" spc="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r>
              <a:rPr sz="2000" spc="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members</a:t>
            </a:r>
            <a:r>
              <a:rPr sz="2000" spc="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feel</a:t>
            </a:r>
            <a:r>
              <a:rPr sz="2000" spc="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accountable</a:t>
            </a:r>
            <a:r>
              <a:rPr sz="2000" spc="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2000" spc="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2000" spc="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assigned</a:t>
            </a:r>
            <a:r>
              <a:rPr sz="2000" spc="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roles</a:t>
            </a:r>
            <a:r>
              <a:rPr sz="2000" spc="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responsibilities</a:t>
            </a:r>
            <a:r>
              <a:rPr sz="2000" spc="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rally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toward</a:t>
            </a:r>
            <a:r>
              <a:rPr sz="2000" spc="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3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same</a:t>
            </a:r>
            <a:r>
              <a:rPr sz="2000" spc="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objectives.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000" spc="3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want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stakeholders</a:t>
            </a:r>
            <a:r>
              <a:rPr sz="20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support,</a:t>
            </a:r>
            <a:r>
              <a:rPr sz="2000" spc="-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instead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oppose,</a:t>
            </a:r>
            <a:r>
              <a:rPr sz="2000" spc="-25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project’s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goals.</a:t>
            </a:r>
            <a:endParaRPr sz="2000">
              <a:latin typeface="Tahoma"/>
              <a:cs typeface="Tahoma"/>
            </a:endParaRPr>
          </a:p>
          <a:p>
            <a:pPr marL="285115" marR="5715" indent="-273050" algn="just">
              <a:lnSpc>
                <a:spcPct val="99700"/>
              </a:lnSpc>
              <a:spcBef>
                <a:spcPts val="49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20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opposition</a:t>
            </a:r>
            <a:r>
              <a:rPr sz="20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20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stakeholders</a:t>
            </a:r>
            <a:r>
              <a:rPr sz="20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cannot</a:t>
            </a:r>
            <a:r>
              <a:rPr sz="20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20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helped,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though,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you'll</a:t>
            </a:r>
            <a:r>
              <a:rPr sz="20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want</a:t>
            </a:r>
            <a:r>
              <a:rPr sz="20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be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able</a:t>
            </a:r>
            <a:r>
              <a:rPr sz="20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manage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influence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project.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same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time,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respectful,</a:t>
            </a:r>
            <a:r>
              <a:rPr sz="2000" spc="-2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receptive,</a:t>
            </a:r>
            <a:r>
              <a:rPr sz="2000" spc="-25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encouraging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59765"/>
            <a:ext cx="71837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0" spc="-14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3600" b="0" spc="-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0" spc="50" dirty="0">
                <a:solidFill>
                  <a:srgbClr val="FFFFFF"/>
                </a:solidFill>
                <a:latin typeface="Tahoma"/>
                <a:cs typeface="Tahoma"/>
              </a:rPr>
              <a:t>Skills</a:t>
            </a:r>
            <a:r>
              <a:rPr sz="3600" b="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0" spc="-2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3600" b="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0" spc="-55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3600" b="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0" spc="-40" dirty="0">
                <a:solidFill>
                  <a:srgbClr val="FFFFFF"/>
                </a:solidFill>
                <a:latin typeface="Tahoma"/>
                <a:cs typeface="Tahoma"/>
              </a:rPr>
              <a:t>Communication </a:t>
            </a:r>
            <a:r>
              <a:rPr sz="3600" b="0" spc="-1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31140" y="1634464"/>
            <a:ext cx="8766810" cy="435483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580"/>
              </a:spcBef>
              <a:buClr>
                <a:srgbClr val="0AD0D9"/>
              </a:buClr>
              <a:buSzPct val="95000"/>
              <a:buFont typeface="Arial MT"/>
              <a:buChar char="•"/>
              <a:tabLst>
                <a:tab pos="285115" algn="l"/>
              </a:tabLst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Showing</a:t>
            </a:r>
            <a:r>
              <a:rPr sz="20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active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listening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skills</a:t>
            </a:r>
            <a:endParaRPr sz="2000">
              <a:latin typeface="Tahoma"/>
              <a:cs typeface="Tahoma"/>
            </a:endParaRPr>
          </a:p>
          <a:p>
            <a:pPr marL="285115" indent="-27241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Arial MT"/>
              <a:buChar char="•"/>
              <a:tabLst>
                <a:tab pos="285115" algn="l"/>
              </a:tabLst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Having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strong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speaking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writing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skills</a:t>
            </a:r>
            <a:endParaRPr sz="2000">
              <a:latin typeface="Tahoma"/>
              <a:cs typeface="Tahoma"/>
            </a:endParaRPr>
          </a:p>
          <a:p>
            <a:pPr marL="285115" indent="-27241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Arial MT"/>
              <a:buChar char="•"/>
              <a:tabLst>
                <a:tab pos="28511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Being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skilled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conflict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resolution</a:t>
            </a:r>
            <a:endParaRPr sz="2000">
              <a:latin typeface="Tahoma"/>
              <a:cs typeface="Tahoma"/>
            </a:endParaRPr>
          </a:p>
          <a:p>
            <a:pPr marL="285115" indent="-27241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Arial MT"/>
              <a:buChar char="•"/>
              <a:tabLst>
                <a:tab pos="28511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Ability</a:t>
            </a:r>
            <a:r>
              <a:rPr sz="20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motivate,</a:t>
            </a:r>
            <a:r>
              <a:rPr sz="2000" spc="-2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engage,</a:t>
            </a:r>
            <a:r>
              <a:rPr sz="20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guide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2000">
              <a:latin typeface="Tahoma"/>
              <a:cs typeface="Tahoma"/>
            </a:endParaRPr>
          </a:p>
          <a:p>
            <a:pPr marL="285115" indent="-27241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Arial MT"/>
              <a:buChar char="•"/>
              <a:tabLst>
                <a:tab pos="285115" algn="l"/>
              </a:tabLst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Setting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expectations,</a:t>
            </a:r>
            <a:r>
              <a:rPr sz="2000" spc="-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managing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them</a:t>
            </a:r>
            <a:endParaRPr sz="2000">
              <a:latin typeface="Tahoma"/>
              <a:cs typeface="Tahoma"/>
            </a:endParaRPr>
          </a:p>
          <a:p>
            <a:pPr marL="285115" indent="-27241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Arial MT"/>
              <a:buChar char="•"/>
              <a:tabLst>
                <a:tab pos="285115" algn="l"/>
              </a:tabLst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Having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propensity</a:t>
            </a:r>
            <a:r>
              <a:rPr sz="20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questioning</a:t>
            </a:r>
            <a:r>
              <a:rPr sz="20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ideas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exploring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alternatives</a:t>
            </a:r>
            <a:endParaRPr sz="2000">
              <a:latin typeface="Tahoma"/>
              <a:cs typeface="Tahoma"/>
            </a:endParaRPr>
          </a:p>
          <a:p>
            <a:pPr marL="285115" indent="-27241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Arial MT"/>
              <a:buChar char="•"/>
              <a:tabLst>
                <a:tab pos="285115" algn="l"/>
              </a:tabLst>
            </a:pP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Recognizing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0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people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think</a:t>
            </a:r>
            <a:r>
              <a:rPr sz="20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communicate</a:t>
            </a:r>
            <a:r>
              <a:rPr sz="20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differently</a:t>
            </a:r>
            <a:endParaRPr sz="2000">
              <a:latin typeface="Tahoma"/>
              <a:cs typeface="Tahoma"/>
            </a:endParaRPr>
          </a:p>
          <a:p>
            <a:pPr marL="285115" marR="5080" indent="-273050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Arial MT"/>
              <a:buChar char="•"/>
              <a:tabLst>
                <a:tab pos="285115" algn="l"/>
              </a:tabLst>
            </a:pP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ability</a:t>
            </a:r>
            <a:r>
              <a:rPr sz="20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create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environment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trust,</a:t>
            </a:r>
            <a:r>
              <a:rPr sz="20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so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people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comfortably</a:t>
            </a:r>
            <a:r>
              <a:rPr sz="20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speak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20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minds</a:t>
            </a:r>
            <a:endParaRPr sz="2000">
              <a:latin typeface="Tahoma"/>
              <a:cs typeface="Tahoma"/>
            </a:endParaRPr>
          </a:p>
          <a:p>
            <a:pPr marL="285115" indent="-27241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Arial MT"/>
              <a:buChar char="•"/>
              <a:tabLst>
                <a:tab pos="285115" algn="l"/>
              </a:tabLst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Acknowledging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opposing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ideas</a:t>
            </a:r>
            <a:r>
              <a:rPr sz="20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(even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when</a:t>
            </a:r>
            <a:r>
              <a:rPr sz="20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don’t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agree</a:t>
            </a:r>
            <a:r>
              <a:rPr sz="20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them)</a:t>
            </a:r>
            <a:endParaRPr sz="2000">
              <a:latin typeface="Tahoma"/>
              <a:cs typeface="Tahoma"/>
            </a:endParaRPr>
          </a:p>
          <a:p>
            <a:pPr marL="285115" indent="-27241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Arial MT"/>
              <a:buChar char="•"/>
              <a:tabLst>
                <a:tab pos="28511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Being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Tahoma"/>
                <a:cs typeface="Tahoma"/>
              </a:rPr>
              <a:t>willing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ask</a:t>
            </a:r>
            <a:r>
              <a:rPr sz="20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accept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help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20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need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endParaRPr sz="2000">
              <a:latin typeface="Tahoma"/>
              <a:cs typeface="Tahoma"/>
            </a:endParaRPr>
          </a:p>
          <a:p>
            <a:pPr marL="285115" indent="-27241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Arial MT"/>
              <a:buChar char="•"/>
              <a:tabLst>
                <a:tab pos="285115" algn="l"/>
              </a:tabLst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Having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positive</a:t>
            </a:r>
            <a:r>
              <a:rPr sz="2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disposition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825" y="130556"/>
            <a:ext cx="7378065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000" b="0" dirty="0">
                <a:latin typeface="Calibri"/>
                <a:cs typeface="Calibri"/>
              </a:rPr>
              <a:t>Overcoming</a:t>
            </a:r>
            <a:r>
              <a:rPr sz="5000" b="0" spc="-235" dirty="0">
                <a:latin typeface="Calibri"/>
                <a:cs typeface="Calibri"/>
              </a:rPr>
              <a:t> </a:t>
            </a:r>
            <a:r>
              <a:rPr sz="5000" b="0" spc="-10" dirty="0">
                <a:latin typeface="Calibri"/>
                <a:cs typeface="Calibri"/>
              </a:rPr>
              <a:t>Communication Barriers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025" y="1913610"/>
            <a:ext cx="6343650" cy="240347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Realize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that</a:t>
            </a:r>
            <a:r>
              <a:rPr sz="2600" spc="-1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is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imperfect.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Adapt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message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to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receiver.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Improve</a:t>
            </a:r>
            <a:r>
              <a:rPr sz="2600" spc="-1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your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language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listening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skills.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Question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your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preconceptions.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Plan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feedback.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025" y="-17576"/>
            <a:ext cx="7237730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Surmounting</a:t>
            </a:r>
            <a:r>
              <a:rPr sz="5000" b="0" spc="-95" dirty="0">
                <a:latin typeface="Calibri"/>
                <a:cs typeface="Calibri"/>
              </a:rPr>
              <a:t> </a:t>
            </a:r>
            <a:r>
              <a:rPr sz="5000" b="0" spc="-25" dirty="0">
                <a:latin typeface="Calibri"/>
                <a:cs typeface="Calibri"/>
              </a:rPr>
              <a:t>Organizational </a:t>
            </a:r>
            <a:r>
              <a:rPr sz="5000" b="0" spc="-10" dirty="0">
                <a:latin typeface="Calibri"/>
                <a:cs typeface="Calibri"/>
              </a:rPr>
              <a:t>Barriers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2225" y="1876425"/>
            <a:ext cx="7206615" cy="287972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5750" marR="5080" indent="-275590">
              <a:lnSpc>
                <a:spcPts val="2810"/>
              </a:lnSpc>
              <a:spcBef>
                <a:spcPts val="45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Encourage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open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environment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interaction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and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feedback.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26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Flatten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organizational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structure.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3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Promote</a:t>
            </a:r>
            <a:r>
              <a:rPr sz="2600" spc="-1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horizontal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Provide</a:t>
            </a:r>
            <a:r>
              <a:rPr sz="2600" spc="-1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hotline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anonymous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feedback.</a:t>
            </a:r>
            <a:endParaRPr sz="2600">
              <a:latin typeface="Constantia"/>
              <a:cs typeface="Constantia"/>
            </a:endParaRPr>
          </a:p>
          <a:p>
            <a:pPr marL="285750" marR="386715" indent="-275590">
              <a:lnSpc>
                <a:spcPts val="2810"/>
              </a:lnSpc>
              <a:spcBef>
                <a:spcPts val="66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Provide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sufficient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information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through</a:t>
            </a:r>
            <a:r>
              <a:rPr sz="26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formal channels.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225" y="130556"/>
            <a:ext cx="6325870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000" b="0" dirty="0">
                <a:latin typeface="Calibri"/>
                <a:cs typeface="Calibri"/>
              </a:rPr>
              <a:t>Barriers</a:t>
            </a:r>
            <a:r>
              <a:rPr sz="5000" b="0" spc="-90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to</a:t>
            </a:r>
            <a:r>
              <a:rPr sz="5000" b="0" spc="-80" dirty="0">
                <a:latin typeface="Calibri"/>
                <a:cs typeface="Calibri"/>
              </a:rPr>
              <a:t> </a:t>
            </a:r>
            <a:r>
              <a:rPr sz="5000" b="0" spc="-20" dirty="0">
                <a:latin typeface="Calibri"/>
                <a:cs typeface="Calibri"/>
              </a:rPr>
              <a:t>Interpersonal </a:t>
            </a:r>
            <a:r>
              <a:rPr sz="5000" b="0" spc="-10" dirty="0">
                <a:latin typeface="Calibri"/>
                <a:cs typeface="Calibri"/>
              </a:rPr>
              <a:t>Communication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2225" y="1805406"/>
            <a:ext cx="4067175" cy="3354704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134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Bypassing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125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Limited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frame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reference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125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Lack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language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skills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125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Lack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listening</a:t>
            </a:r>
            <a:r>
              <a:rPr sz="26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skills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125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Emotional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interference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124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Physical</a:t>
            </a:r>
            <a:r>
              <a:rPr sz="26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distractions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2225" y="511251"/>
            <a:ext cx="7138034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latin typeface="Calibri"/>
                <a:cs typeface="Calibri"/>
              </a:rPr>
              <a:t>Understanding</a:t>
            </a:r>
            <a:r>
              <a:rPr sz="5000" b="0" spc="-110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is</a:t>
            </a:r>
            <a:r>
              <a:rPr sz="5000" b="0" spc="-80" dirty="0">
                <a:latin typeface="Calibri"/>
                <a:cs typeface="Calibri"/>
              </a:rPr>
              <a:t> </a:t>
            </a:r>
            <a:r>
              <a:rPr sz="5000" b="0" dirty="0">
                <a:latin typeface="Calibri"/>
                <a:cs typeface="Calibri"/>
              </a:rPr>
              <a:t>shaped</a:t>
            </a:r>
            <a:r>
              <a:rPr sz="5000" b="0" spc="-105" dirty="0">
                <a:latin typeface="Calibri"/>
                <a:cs typeface="Calibri"/>
              </a:rPr>
              <a:t> </a:t>
            </a:r>
            <a:r>
              <a:rPr sz="5000" b="0" spc="-25" dirty="0">
                <a:latin typeface="Calibri"/>
                <a:cs typeface="Calibri"/>
              </a:rPr>
              <a:t>by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425" y="1567662"/>
            <a:ext cx="4177029" cy="299783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166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62230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climate</a:t>
            </a:r>
            <a:endParaRPr sz="2600">
              <a:latin typeface="Constantia"/>
              <a:cs typeface="Constantia"/>
            </a:endParaRPr>
          </a:p>
          <a:p>
            <a:pPr marL="622300" indent="-609600">
              <a:lnSpc>
                <a:spcPct val="100000"/>
              </a:lnSpc>
              <a:spcBef>
                <a:spcPts val="156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622300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Context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setting</a:t>
            </a:r>
            <a:endParaRPr sz="2600">
              <a:latin typeface="Constantia"/>
              <a:cs typeface="Constantia"/>
            </a:endParaRPr>
          </a:p>
          <a:p>
            <a:pPr marL="622300" indent="-609600">
              <a:lnSpc>
                <a:spcPct val="100000"/>
              </a:lnSpc>
              <a:spcBef>
                <a:spcPts val="156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62230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Background,</a:t>
            </a:r>
            <a:r>
              <a:rPr sz="2600" spc="-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experiences</a:t>
            </a:r>
            <a:endParaRPr sz="2600">
              <a:latin typeface="Constantia"/>
              <a:cs typeface="Constantia"/>
            </a:endParaRPr>
          </a:p>
          <a:p>
            <a:pPr marL="622300" indent="-609600">
              <a:lnSpc>
                <a:spcPct val="100000"/>
              </a:lnSpc>
              <a:spcBef>
                <a:spcPts val="156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62230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Knowledge,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mood</a:t>
            </a:r>
            <a:endParaRPr sz="2600">
              <a:latin typeface="Constantia"/>
              <a:cs typeface="Constantia"/>
            </a:endParaRPr>
          </a:p>
          <a:p>
            <a:pPr marL="622300" indent="-609600">
              <a:lnSpc>
                <a:spcPct val="100000"/>
              </a:lnSpc>
              <a:spcBef>
                <a:spcPts val="156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622300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Values,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beliefs,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culture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425" y="672795"/>
            <a:ext cx="632904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Barriers</a:t>
            </a:r>
            <a:r>
              <a:rPr sz="4000" b="0" spc="-5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That</a:t>
            </a:r>
            <a:r>
              <a:rPr sz="4000" b="0" spc="-7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Block</a:t>
            </a:r>
            <a:r>
              <a:rPr sz="4000" b="0" spc="-7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the</a:t>
            </a:r>
            <a:r>
              <a:rPr sz="4000" b="0" spc="-6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Flow</a:t>
            </a:r>
            <a:r>
              <a:rPr sz="4000" b="0" spc="-65" dirty="0">
                <a:latin typeface="Calibri"/>
                <a:cs typeface="Calibri"/>
              </a:rPr>
              <a:t> </a:t>
            </a:r>
            <a:r>
              <a:rPr sz="4000" b="0" spc="-25" dirty="0">
                <a:latin typeface="Calibri"/>
                <a:cs typeface="Calibri"/>
              </a:rPr>
              <a:t>of </a:t>
            </a:r>
            <a:r>
              <a:rPr sz="4000" b="0" spc="-20" dirty="0">
                <a:latin typeface="Calibri"/>
                <a:cs typeface="Calibri"/>
              </a:rPr>
              <a:t>Information</a:t>
            </a:r>
            <a:r>
              <a:rPr sz="4000" b="0" spc="-7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in</a:t>
            </a:r>
            <a:r>
              <a:rPr sz="4000" b="0" spc="-7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Organizations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2225" y="2443962"/>
            <a:ext cx="7491095" cy="220535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409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Closed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climate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Top-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heavy</a:t>
            </a:r>
            <a:r>
              <a:rPr sz="2600" spc="-114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organizational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structure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31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Long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lines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31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Lack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trust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between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management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and</a:t>
            </a:r>
            <a:r>
              <a:rPr sz="26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employees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Competition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55" dirty="0">
                <a:solidFill>
                  <a:srgbClr val="FFFFFF"/>
                </a:solidFill>
                <a:latin typeface="Constantia"/>
                <a:cs typeface="Constantia"/>
              </a:rPr>
              <a:t>power,</a:t>
            </a:r>
            <a:r>
              <a:rPr sz="26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status,</a:t>
            </a:r>
            <a:r>
              <a:rPr sz="2600" spc="-9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rewards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025" y="393014"/>
            <a:ext cx="6242685" cy="138811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indent="142875">
              <a:lnSpc>
                <a:spcPts val="5440"/>
              </a:lnSpc>
              <a:spcBef>
                <a:spcPts val="45"/>
              </a:spcBef>
            </a:pPr>
            <a:r>
              <a:rPr sz="4400" b="0" dirty="0">
                <a:latin typeface="Calibri"/>
                <a:cs typeface="Calibri"/>
              </a:rPr>
              <a:t>Additional</a:t>
            </a:r>
            <a:r>
              <a:rPr sz="4400" b="0" spc="-10" dirty="0">
                <a:latin typeface="Calibri"/>
                <a:cs typeface="Calibri"/>
              </a:rPr>
              <a:t> Communication Barriers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425" y="1837410"/>
            <a:ext cx="6264910" cy="279971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Fear</a:t>
            </a:r>
            <a:r>
              <a:rPr sz="2600" spc="-1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reprisal</a:t>
            </a:r>
            <a:r>
              <a:rPr sz="2600" spc="-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for</a:t>
            </a:r>
            <a:r>
              <a:rPr sz="26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honest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endParaRPr sz="2600">
              <a:latin typeface="Constantia"/>
              <a:cs typeface="Constantia"/>
            </a:endParaRPr>
          </a:p>
          <a:p>
            <a:pPr marL="285750" marR="848360" indent="-27559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Differing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frames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reference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among communicators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Lack</a:t>
            </a:r>
            <a:r>
              <a:rPr sz="2600" spc="-6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communication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skills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Ego</a:t>
            </a:r>
            <a:r>
              <a:rPr sz="2600" spc="-1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involvement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35" dirty="0">
                <a:solidFill>
                  <a:srgbClr val="FFFFFF"/>
                </a:solidFill>
                <a:latin typeface="Constantia"/>
                <a:cs typeface="Constantia"/>
              </a:rPr>
              <a:t>Turf</a:t>
            </a:r>
            <a:r>
              <a:rPr sz="2600" spc="-13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wars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159207"/>
            <a:ext cx="61607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Benefits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10" dirty="0"/>
              <a:t>Effective</a:t>
            </a:r>
            <a:r>
              <a:rPr spc="-60" dirty="0"/>
              <a:t> </a:t>
            </a:r>
            <a:r>
              <a:rPr spc="-10" dirty="0"/>
              <a:t>Communication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987297"/>
            <a:ext cx="6024880" cy="4632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105"/>
              </a:spcBef>
              <a:buSzPct val="94230"/>
              <a:buFont typeface="Segoe UI Symbol"/>
              <a:buChar char="⚫"/>
              <a:tabLst>
                <a:tab pos="285750" algn="l"/>
                <a:tab pos="4665980" algn="l"/>
              </a:tabLst>
            </a:pP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Improves</a:t>
            </a:r>
            <a:r>
              <a:rPr sz="2600" spc="-15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quality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of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services</a:t>
            </a:r>
            <a:r>
              <a:rPr sz="2600" spc="-6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Constantia"/>
                <a:cs typeface="Constantia"/>
              </a:rPr>
              <a:t>&amp;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products.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2185"/>
              </a:spcBef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Provides</a:t>
            </a:r>
            <a:r>
              <a:rPr sz="2600" spc="-10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competitive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advantage.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2185"/>
              </a:spcBef>
              <a:buSzPct val="94230"/>
              <a:buFont typeface="Segoe UI Symbol"/>
              <a:buChar char="⚫"/>
              <a:tabLst>
                <a:tab pos="285750" algn="l"/>
                <a:tab pos="3081655" algn="l"/>
              </a:tabLst>
            </a:pP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Motivate</a:t>
            </a:r>
            <a:r>
              <a:rPr sz="2600" spc="-1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&amp;</a:t>
            </a:r>
            <a:r>
              <a:rPr sz="2600" spc="-2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involve</a:t>
            </a: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emplyees.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2185"/>
              </a:spcBef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Reduce</a:t>
            </a:r>
            <a:r>
              <a:rPr sz="26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Cost.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2185"/>
              </a:spcBef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25" dirty="0">
                <a:solidFill>
                  <a:srgbClr val="FFFFFF"/>
                </a:solidFill>
                <a:latin typeface="Constantia"/>
                <a:cs typeface="Constantia"/>
              </a:rPr>
              <a:t>Saves</a:t>
            </a:r>
            <a:r>
              <a:rPr sz="26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Time.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795"/>
              </a:spcBef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Increases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productivity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310"/>
              </a:spcBef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Streamline</a:t>
            </a:r>
            <a:r>
              <a:rPr sz="2600" spc="-15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work</a:t>
            </a:r>
            <a:r>
              <a:rPr sz="2600" spc="-13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practices.</a:t>
            </a:r>
            <a:endParaRPr sz="2600">
              <a:latin typeface="Constantia"/>
              <a:cs typeface="Constantia"/>
            </a:endParaRPr>
          </a:p>
          <a:p>
            <a:pPr marL="285750" indent="-274955">
              <a:lnSpc>
                <a:spcPct val="100000"/>
              </a:lnSpc>
              <a:spcBef>
                <a:spcPts val="1465"/>
              </a:spcBef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solidFill>
                  <a:srgbClr val="FFFFFF"/>
                </a:solidFill>
                <a:latin typeface="Constantia"/>
                <a:cs typeface="Constantia"/>
              </a:rPr>
              <a:t>Build</a:t>
            </a:r>
            <a:r>
              <a:rPr sz="2600" spc="-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Goodwill.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8140" y="251459"/>
            <a:ext cx="5276850" cy="677545"/>
            <a:chOff x="358140" y="251459"/>
            <a:chExt cx="5276850" cy="6775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140" y="251459"/>
              <a:ext cx="1159002" cy="6774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" y="670559"/>
              <a:ext cx="4825746" cy="6629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1768" y="251459"/>
              <a:ext cx="657606" cy="6774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7151" y="251459"/>
              <a:ext cx="1774698" cy="67741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4951" y="251459"/>
              <a:ext cx="2504694" cy="6774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6548" y="251459"/>
              <a:ext cx="488429" cy="677418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1228356"/>
            <a:ext cx="502145" cy="51128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67739" y="1129283"/>
            <a:ext cx="7839075" cy="5066665"/>
            <a:chOff x="967739" y="1129283"/>
            <a:chExt cx="7839075" cy="5066665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7739" y="1129283"/>
              <a:ext cx="1367790" cy="6774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86355" y="1129283"/>
              <a:ext cx="1553718" cy="6774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36975" y="1129283"/>
              <a:ext cx="479285" cy="6774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13175" y="1129283"/>
              <a:ext cx="505205" cy="6774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15283" y="1129283"/>
              <a:ext cx="1046226" cy="6774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12335" y="1129283"/>
              <a:ext cx="1319022" cy="6774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82183" y="1129283"/>
              <a:ext cx="960882" cy="67741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93892" y="1129283"/>
              <a:ext cx="657606" cy="67741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02324" y="1129283"/>
              <a:ext cx="1540002" cy="67741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693151" y="1129283"/>
              <a:ext cx="1113281" cy="67741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67739" y="1495043"/>
              <a:ext cx="1965198" cy="67741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06039" y="1495043"/>
              <a:ext cx="826769" cy="67741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04388" y="1495043"/>
              <a:ext cx="1604010" cy="67741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78451" y="1495043"/>
              <a:ext cx="1614677" cy="67741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590031" y="1495043"/>
              <a:ext cx="505206" cy="67741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768339" y="1495043"/>
              <a:ext cx="1062989" cy="67741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504431" y="1495043"/>
              <a:ext cx="1686305" cy="67741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787639" y="1495043"/>
              <a:ext cx="479285" cy="67741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67739" y="1933955"/>
              <a:ext cx="1486661" cy="67741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217419" y="1933955"/>
              <a:ext cx="2295906" cy="67741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10227" y="1933955"/>
              <a:ext cx="505205" cy="67741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378451" y="1933955"/>
              <a:ext cx="1012698" cy="67741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154168" y="1933955"/>
              <a:ext cx="1172717" cy="67741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089904" y="1933955"/>
              <a:ext cx="1578102" cy="67741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31024" y="1933955"/>
              <a:ext cx="1375409" cy="67741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67739" y="2299716"/>
              <a:ext cx="1242822" cy="67741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880615" y="2299716"/>
              <a:ext cx="1309878" cy="67741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862072" y="2299716"/>
              <a:ext cx="942594" cy="67741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474719" y="2299716"/>
              <a:ext cx="640841" cy="67741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87139" y="2299716"/>
              <a:ext cx="912113" cy="67741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372355" y="2299716"/>
              <a:ext cx="1014222" cy="67741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983480" y="2299716"/>
              <a:ext cx="479285" cy="67741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67739" y="2738627"/>
              <a:ext cx="2198370" cy="67741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63011" y="2738627"/>
              <a:ext cx="505206" cy="67741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956560" y="2738627"/>
              <a:ext cx="622553" cy="67741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176016" y="2738627"/>
              <a:ext cx="910590" cy="67741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774947" y="2738627"/>
              <a:ext cx="1305305" cy="67741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768595" y="2738627"/>
              <a:ext cx="1390650" cy="67741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847587" y="2738627"/>
              <a:ext cx="1233678" cy="67741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769607" y="2738627"/>
              <a:ext cx="936498" cy="67741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394448" y="2738627"/>
              <a:ext cx="1085850" cy="67741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167116" y="2738627"/>
              <a:ext cx="639318" cy="67741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67739" y="3104388"/>
              <a:ext cx="1471422" cy="67741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036063" y="3104388"/>
              <a:ext cx="479285" cy="67741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67739" y="3543300"/>
              <a:ext cx="1826514" cy="67741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70987" y="3543300"/>
              <a:ext cx="505206" cy="67741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673095" y="3543300"/>
              <a:ext cx="951737" cy="67741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401567" y="3543300"/>
              <a:ext cx="1218438" cy="67741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396739" y="3543300"/>
              <a:ext cx="810006" cy="67741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981955" y="3543300"/>
              <a:ext cx="640841" cy="67741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398007" y="3543300"/>
              <a:ext cx="1434845" cy="67741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609587" y="3543300"/>
              <a:ext cx="1155953" cy="67741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542275" y="3543300"/>
              <a:ext cx="1264157" cy="67741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967739" y="3909060"/>
              <a:ext cx="2122170" cy="67741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759963" y="3909060"/>
              <a:ext cx="640841" cy="677418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072383" y="3909060"/>
              <a:ext cx="2183130" cy="67741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924043" y="3909060"/>
              <a:ext cx="1404365" cy="67741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925311" y="3909060"/>
              <a:ext cx="479285" cy="67741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67739" y="4347972"/>
              <a:ext cx="2125218" cy="67741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89860" y="4347972"/>
              <a:ext cx="505206" cy="67741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877311" y="4347972"/>
              <a:ext cx="605789" cy="67741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080004" y="4347972"/>
              <a:ext cx="1265682" cy="67741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027932" y="4347972"/>
              <a:ext cx="640841" cy="677418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351019" y="4347972"/>
              <a:ext cx="1044701" cy="67741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077968" y="4347972"/>
              <a:ext cx="1276350" cy="67741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036563" y="4347972"/>
              <a:ext cx="1468374" cy="67741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187183" y="4347972"/>
              <a:ext cx="640842" cy="67741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7508747" y="4347972"/>
              <a:ext cx="1297686" cy="677418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967739" y="4713731"/>
              <a:ext cx="1768602" cy="677418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404872" y="4713731"/>
              <a:ext cx="963929" cy="67741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037332" y="4713731"/>
              <a:ext cx="1123949" cy="677418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832860" y="4713731"/>
              <a:ext cx="640841" cy="677418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145279" y="4713731"/>
              <a:ext cx="1742694" cy="677418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484875" y="4713731"/>
              <a:ext cx="479285" cy="677418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967739" y="5152643"/>
              <a:ext cx="1075182" cy="677418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39823" y="5152643"/>
              <a:ext cx="505206" cy="677418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741931" y="5152643"/>
              <a:ext cx="605790" cy="677418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944623" y="5152643"/>
              <a:ext cx="925830" cy="677418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595372" y="5152643"/>
              <a:ext cx="842010" cy="677418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162300" y="5152643"/>
              <a:ext cx="656081" cy="67741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543300" y="5152643"/>
              <a:ext cx="1066038" cy="677418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334255" y="5152643"/>
              <a:ext cx="1367789" cy="677418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425439" y="5152643"/>
              <a:ext cx="1148334" cy="677418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298692" y="5152643"/>
              <a:ext cx="1390650" cy="677418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414260" y="5152643"/>
              <a:ext cx="640842" cy="677418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7780020" y="5152643"/>
              <a:ext cx="1026414" cy="677418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967739" y="5518404"/>
              <a:ext cx="1963674" cy="677418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599944" y="5518404"/>
              <a:ext cx="1419606" cy="677418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689604" y="5518404"/>
              <a:ext cx="944118" cy="677418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306824" y="5518404"/>
              <a:ext cx="640841" cy="677418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4619243" y="5518404"/>
              <a:ext cx="1099565" cy="677418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15711" y="5518404"/>
              <a:ext cx="479285" cy="677418"/>
            </a:xfrm>
            <a:prstGeom prst="rect">
              <a:avLst/>
            </a:prstGeom>
          </p:spPr>
        </p:pic>
      </p:grpSp>
      <p:pic>
        <p:nvPicPr>
          <p:cNvPr id="103" name="object 10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2033028"/>
            <a:ext cx="502145" cy="511289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2837700"/>
            <a:ext cx="502145" cy="511289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3642372"/>
            <a:ext cx="502145" cy="511289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4447044"/>
            <a:ext cx="502145" cy="511289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5251703"/>
            <a:ext cx="502145" cy="511289"/>
          </a:xfrm>
          <a:prstGeom prst="rect">
            <a:avLst/>
          </a:prstGeom>
        </p:spPr>
      </p:pic>
      <p:sp>
        <p:nvSpPr>
          <p:cNvPr id="108" name="object 108"/>
          <p:cNvSpPr txBox="1"/>
          <p:nvPr/>
        </p:nvSpPr>
        <p:spPr>
          <a:xfrm>
            <a:off x="535940" y="327405"/>
            <a:ext cx="8072755" cy="565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1585" algn="l"/>
              </a:tabLst>
            </a:pPr>
            <a:r>
              <a:rPr sz="24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sz="2400" b="1" u="sng" spc="-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Nonverbal</a:t>
            </a:r>
            <a:r>
              <a:rPr sz="2400" b="1" u="sng" spc="-1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Communication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Times New Roman"/>
              <a:cs typeface="Times New Roman"/>
            </a:endParaRPr>
          </a:p>
          <a:p>
            <a:pPr marL="609600" indent="-609600" algn="ctr">
              <a:lnSpc>
                <a:spcPct val="100000"/>
              </a:lnSpc>
              <a:buClr>
                <a:srgbClr val="E1D600"/>
              </a:buClr>
              <a:buSzPct val="79166"/>
              <a:buFont typeface="Wingdings"/>
              <a:buChar char=""/>
              <a:tabLst>
                <a:tab pos="609600" algn="l"/>
                <a:tab pos="1727835" algn="l"/>
                <a:tab pos="3854450" algn="l"/>
                <a:tab pos="4924425" algn="l"/>
                <a:tab pos="5636260" algn="l"/>
                <a:tab pos="6044565" algn="l"/>
                <a:tab pos="7336155" algn="l"/>
              </a:tabLst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Kinesic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behavior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,-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body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motion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gestures,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facial</a:t>
            </a:r>
            <a:endParaRPr sz="2400">
              <a:latin typeface="Times New Roman"/>
              <a:cs typeface="Times New Roman"/>
            </a:endParaRPr>
          </a:p>
          <a:p>
            <a:pPr marL="69215"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expressions,</a:t>
            </a:r>
            <a:r>
              <a:rPr sz="24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eye</a:t>
            </a:r>
            <a:r>
              <a:rPr sz="24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behavior,</a:t>
            </a:r>
            <a:r>
              <a:rPr sz="24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touching,-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Body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movement.</a:t>
            </a:r>
            <a:endParaRPr sz="2400">
              <a:latin typeface="Times New Roman"/>
              <a:cs typeface="Times New Roman"/>
            </a:endParaRPr>
          </a:p>
          <a:p>
            <a:pPr marL="622300" marR="5080" indent="-610235">
              <a:lnSpc>
                <a:spcPct val="100000"/>
              </a:lnSpc>
              <a:spcBef>
                <a:spcPts val="575"/>
              </a:spcBef>
              <a:buClr>
                <a:srgbClr val="E1D600"/>
              </a:buClr>
              <a:buSzPct val="79166"/>
              <a:buFont typeface="Wingdings"/>
              <a:buChar char=""/>
              <a:tabLst>
                <a:tab pos="622300" algn="l"/>
                <a:tab pos="1871980" algn="l"/>
                <a:tab pos="4033520" algn="l"/>
                <a:tab pos="4809490" algn="l"/>
                <a:tab pos="5744845" algn="l"/>
                <a:tab pos="7086600" algn="l"/>
              </a:tabLst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characteristics-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body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shape,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physique,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posture,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height,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weight,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hair,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skin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color.</a:t>
            </a:r>
            <a:endParaRPr sz="2400">
              <a:latin typeface="Times New Roman"/>
              <a:cs typeface="Times New Roman"/>
            </a:endParaRPr>
          </a:p>
          <a:p>
            <a:pPr marL="622300" marR="5080" indent="-610235">
              <a:lnSpc>
                <a:spcPct val="100000"/>
              </a:lnSpc>
              <a:spcBef>
                <a:spcPts val="580"/>
              </a:spcBef>
              <a:buClr>
                <a:srgbClr val="E1D600"/>
              </a:buClr>
              <a:buSzPct val="79166"/>
              <a:buFont typeface="Wingdings"/>
              <a:buChar char=""/>
              <a:tabLst>
                <a:tab pos="622300" algn="l"/>
              </a:tabLst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Paralanguage-</a:t>
            </a:r>
            <a:r>
              <a:rPr sz="240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oice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quality,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volume,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speech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rate,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pitch,</a:t>
            </a:r>
            <a:r>
              <a:rPr sz="24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&amp;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laughing.</a:t>
            </a:r>
            <a:endParaRPr sz="2400">
              <a:latin typeface="Times New Roman"/>
              <a:cs typeface="Times New Roman"/>
            </a:endParaRPr>
          </a:p>
          <a:p>
            <a:pPr marL="622300" marR="5715" indent="-610235">
              <a:lnSpc>
                <a:spcPct val="100000"/>
              </a:lnSpc>
              <a:spcBef>
                <a:spcPts val="575"/>
              </a:spcBef>
              <a:buClr>
                <a:srgbClr val="E1D600"/>
              </a:buClr>
              <a:buSzPct val="79166"/>
              <a:buFont typeface="Wingdings"/>
              <a:buChar char=""/>
              <a:tabLst>
                <a:tab pos="622300" algn="l"/>
                <a:tab pos="2225675" algn="l"/>
                <a:tab pos="3056255" algn="l"/>
                <a:tab pos="4051300" algn="l"/>
                <a:tab pos="4636770" algn="l"/>
                <a:tab pos="5053330" algn="l"/>
                <a:tab pos="6264910" algn="l"/>
                <a:tab pos="7197725" algn="l"/>
              </a:tabLst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Proxemics,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people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perceive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space,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seating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arrangements,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conversational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distance.</a:t>
            </a:r>
            <a:endParaRPr sz="2400">
              <a:latin typeface="Times New Roman"/>
              <a:cs typeface="Times New Roman"/>
            </a:endParaRPr>
          </a:p>
          <a:p>
            <a:pPr marL="622300" marR="5080" indent="-610235">
              <a:lnSpc>
                <a:spcPct val="100000"/>
              </a:lnSpc>
              <a:spcBef>
                <a:spcPts val="580"/>
              </a:spcBef>
              <a:buClr>
                <a:srgbClr val="E1D600"/>
              </a:buClr>
              <a:buSzPct val="79166"/>
              <a:buFont typeface="Wingdings"/>
              <a:buChar char=""/>
              <a:tabLst>
                <a:tab pos="622300" algn="l"/>
              </a:tabLst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Environment-</a:t>
            </a:r>
            <a:r>
              <a:rPr sz="24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uilding</a:t>
            </a:r>
            <a:r>
              <a:rPr sz="24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room</a:t>
            </a:r>
            <a:r>
              <a:rPr sz="24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design,</a:t>
            </a:r>
            <a:r>
              <a:rPr sz="24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furniture</a:t>
            </a:r>
            <a:r>
              <a:rPr sz="24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interior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decorating,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light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noise,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&amp;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cleanliness.</a:t>
            </a:r>
            <a:endParaRPr sz="2400">
              <a:latin typeface="Times New Roman"/>
              <a:cs typeface="Times New Roman"/>
            </a:endParaRPr>
          </a:p>
          <a:p>
            <a:pPr marL="622300" marR="5080" indent="-610235">
              <a:lnSpc>
                <a:spcPct val="100000"/>
              </a:lnSpc>
              <a:spcBef>
                <a:spcPts val="575"/>
              </a:spcBef>
              <a:buClr>
                <a:srgbClr val="E1D600"/>
              </a:buClr>
              <a:buSzPct val="79166"/>
              <a:buFont typeface="Wingdings"/>
              <a:buChar char=""/>
              <a:tabLst>
                <a:tab pos="622300" algn="l"/>
                <a:tab pos="2249805" algn="l"/>
                <a:tab pos="2816860" algn="l"/>
                <a:tab pos="3197860" algn="l"/>
                <a:tab pos="3989070" algn="l"/>
                <a:tab pos="5080635" algn="l"/>
                <a:tab pos="5953760" algn="l"/>
                <a:tab pos="7069455" algn="l"/>
                <a:tab pos="7435215" algn="l"/>
              </a:tabLst>
            </a:pP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Time-B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eing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late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early,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keeping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others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waiting,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6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other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relationships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time &amp;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status.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807"/>
            <a:ext cx="40208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Reading</a:t>
            </a:r>
            <a:r>
              <a:rPr spc="-65" dirty="0"/>
              <a:t> </a:t>
            </a:r>
            <a:r>
              <a:rPr dirty="0"/>
              <a:t>Body</a:t>
            </a:r>
            <a:r>
              <a:rPr spc="-40" dirty="0"/>
              <a:t> </a:t>
            </a:r>
            <a:r>
              <a:rPr spc="-10" dirty="0"/>
              <a:t>Language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1189200"/>
          <a:ext cx="8686799" cy="4245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ts val="1739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Unspoken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message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8780">
                        <a:lnSpc>
                          <a:spcPts val="1739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Behavior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“I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want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helpful.”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T w="952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Uncrossing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legs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T w="9525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Unbuttoning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coat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600" b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jacket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Unclasping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hands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Moving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closer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6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person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Smiling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face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Removing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hands</a:t>
                      </a:r>
                      <a:r>
                        <a:rPr sz="1600" b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pockets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Unfolding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arms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6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chest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“I’m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confident”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Avoiding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hand-to-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face gestures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head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scratching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Maintaining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600" b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erect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stance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Keeping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steady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eye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contact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45"/>
                        </a:lnSpc>
                        <a:spcBef>
                          <a:spcPts val="37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Steeling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fingertips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below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dirty="0"/>
              <a:t>Reading</a:t>
            </a:r>
            <a:r>
              <a:rPr spc="-75" dirty="0"/>
              <a:t> </a:t>
            </a:r>
            <a:r>
              <a:rPr dirty="0"/>
              <a:t>Body</a:t>
            </a:r>
            <a:r>
              <a:rPr spc="-40" dirty="0"/>
              <a:t> </a:t>
            </a:r>
            <a:r>
              <a:rPr spc="-10" dirty="0"/>
              <a:t>Language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-16510" y="1814929"/>
          <a:ext cx="7931150" cy="3148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31750">
                        <a:lnSpc>
                          <a:spcPts val="1739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Unspoken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message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6725">
                        <a:lnSpc>
                          <a:spcPts val="1739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Behavior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“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I’m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nervous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Clearing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throat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Expelling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air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(such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“Whew!”)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Placing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hand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mouth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speaking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Hurried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cigarette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smoking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“I’m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superior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you.”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Peering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tops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eyeglasses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Pointing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finger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Standing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behind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desk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leaning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palms</a:t>
                      </a:r>
                      <a:r>
                        <a:rPr sz="1600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600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45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Holding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jacket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leaps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speaking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294" y="3436442"/>
            <a:ext cx="342455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Constantia"/>
                <a:cs typeface="Constantia"/>
              </a:rPr>
              <a:t>Thank</a:t>
            </a:r>
            <a:r>
              <a:rPr sz="5400" spc="-2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5400" spc="-25" dirty="0">
                <a:solidFill>
                  <a:srgbClr val="FFFFFF"/>
                </a:solidFill>
                <a:latin typeface="Constantia"/>
                <a:cs typeface="Constantia"/>
              </a:rPr>
              <a:t>you</a:t>
            </a:r>
            <a:endParaRPr sz="54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1468</TotalTime>
  <Words>2772</Words>
  <Application>Microsoft Office PowerPoint</Application>
  <PresentationFormat>On-screen Show (4:3)</PresentationFormat>
  <Paragraphs>475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8" baseType="lpstr">
      <vt:lpstr>Arial MT</vt:lpstr>
      <vt:lpstr>Calibri</vt:lpstr>
      <vt:lpstr>Constantia</vt:lpstr>
      <vt:lpstr>Segoe UI Symbol</vt:lpstr>
      <vt:lpstr>Tahoma</vt:lpstr>
      <vt:lpstr>Times New Roman</vt:lpstr>
      <vt:lpstr>Verdana</vt:lpstr>
      <vt:lpstr>Wingdings</vt:lpstr>
      <vt:lpstr>Office Theme</vt:lpstr>
      <vt:lpstr>Project Management</vt:lpstr>
      <vt:lpstr>Learning Objectives</vt:lpstr>
      <vt:lpstr>What is Project Communication</vt:lpstr>
      <vt:lpstr>A Classic Case of Miscommunication</vt:lpstr>
      <vt:lpstr>A Classic Case of Miscommunication</vt:lpstr>
      <vt:lpstr>Analysis of Flawed Communication Process</vt:lpstr>
      <vt:lpstr>Analysis of Flawed Communication Process</vt:lpstr>
      <vt:lpstr>Analysis of Flawed Communication Process</vt:lpstr>
      <vt:lpstr>Analysis of Flawed Communication Process</vt:lpstr>
      <vt:lpstr>Analysis of Flawed Communication Process</vt:lpstr>
      <vt:lpstr>Barriers That Caused Cronkite Miscommunication</vt:lpstr>
      <vt:lpstr>Barriers That Caused Cronkite Miscommunication</vt:lpstr>
      <vt:lpstr>Another Example of Miscommunication</vt:lpstr>
      <vt:lpstr>As Marketing Requested It</vt:lpstr>
      <vt:lpstr>As Sales Ordered It</vt:lpstr>
      <vt:lpstr>As Engineering Designed It</vt:lpstr>
      <vt:lpstr>As Production Manufactured It</vt:lpstr>
      <vt:lpstr>As Maintenance Installed It</vt:lpstr>
      <vt:lpstr>What the Customer Wanted</vt:lpstr>
      <vt:lpstr>What is Project communication?</vt:lpstr>
      <vt:lpstr>How is Project Communication defined?</vt:lpstr>
      <vt:lpstr>How is Technical Communication defined?</vt:lpstr>
      <vt:lpstr>How is Technical Writing defined?</vt:lpstr>
      <vt:lpstr>Who are Technical Communicators?</vt:lpstr>
      <vt:lpstr>What Skills does a Technical Communicator need?</vt:lpstr>
      <vt:lpstr>What are Measures of Excellence in Technical Communication?</vt:lpstr>
      <vt:lpstr>What are Seven Principles of Technical Writing?</vt:lpstr>
      <vt:lpstr>What are Types of Technical Communication?</vt:lpstr>
      <vt:lpstr>Techniques to Improve Org Communication</vt:lpstr>
      <vt:lpstr>Guidelines for Choosing Communication Technologies.</vt:lpstr>
      <vt:lpstr>What is Project Communication</vt:lpstr>
      <vt:lpstr>Project Communication Management</vt:lpstr>
      <vt:lpstr>What’s in it for a Project Manager?</vt:lpstr>
      <vt:lpstr>Project Communication Management</vt:lpstr>
      <vt:lpstr>PowerPoint Presentation</vt:lpstr>
      <vt:lpstr>Importance of Good Communications</vt:lpstr>
      <vt:lpstr>Project Communications Management Processes</vt:lpstr>
      <vt:lpstr>Generally, a project management communication plan should answer the following key questions:</vt:lpstr>
      <vt:lpstr>Who? Stakeholder Identification</vt:lpstr>
      <vt:lpstr>What? Stakeholder Analysis</vt:lpstr>
      <vt:lpstr>When ?</vt:lpstr>
      <vt:lpstr>Where ?</vt:lpstr>
      <vt:lpstr>Why ?</vt:lpstr>
      <vt:lpstr>How ?</vt:lpstr>
      <vt:lpstr>Plan Communications Management</vt:lpstr>
      <vt:lpstr>Communications Management Plan Contents</vt:lpstr>
      <vt:lpstr>Communications Management Plan Contents (cont’d)</vt:lpstr>
      <vt:lpstr>Sample Stakeholder Analysis for Project Communications</vt:lpstr>
      <vt:lpstr>Manage Communications</vt:lpstr>
      <vt:lpstr>Manage Communications (Cont)</vt:lpstr>
      <vt:lpstr>Manage Communications (Cont)</vt:lpstr>
      <vt:lpstr>Manage Communications (Cont)</vt:lpstr>
      <vt:lpstr>Distributing Information in an Effective and Timely Manner</vt:lpstr>
      <vt:lpstr>Importance of Face-to-Face Communication</vt:lpstr>
      <vt:lpstr>Encouraging More Face-to-Face Interactions</vt:lpstr>
      <vt:lpstr>Media Choice Table</vt:lpstr>
      <vt:lpstr>Understanding Group and Individual Communication Needs</vt:lpstr>
      <vt:lpstr>Personal Preferences Affect Communication Needs</vt:lpstr>
      <vt:lpstr>Other Communication Considerations</vt:lpstr>
      <vt:lpstr>Determining the Number of Communications Channels</vt:lpstr>
      <vt:lpstr>The Impact of the Number of People on Communications Channels</vt:lpstr>
      <vt:lpstr>Monitor Communications</vt:lpstr>
      <vt:lpstr>Monitor Communications (Cont)</vt:lpstr>
      <vt:lpstr>Monitor Communications (Cont)</vt:lpstr>
      <vt:lpstr>Issue Log</vt:lpstr>
      <vt:lpstr>How to be Successful at Project Communication Management</vt:lpstr>
      <vt:lpstr>How to be Successful at Project Communication Management</vt:lpstr>
      <vt:lpstr>Key Skills for Project Communication Management</vt:lpstr>
      <vt:lpstr>Overcoming Communication Barriers</vt:lpstr>
      <vt:lpstr>Surmounting Organizational Barriers</vt:lpstr>
      <vt:lpstr>Barriers to Interpersonal Communication</vt:lpstr>
      <vt:lpstr>Understanding is shaped by</vt:lpstr>
      <vt:lpstr>Barriers That Block the Flow of Information in Organizations</vt:lpstr>
      <vt:lpstr>Additional Communication Barriers</vt:lpstr>
      <vt:lpstr>Benefits of Effective Communication</vt:lpstr>
      <vt:lpstr>PowerPoint Presentation</vt:lpstr>
      <vt:lpstr>Reading Body Language</vt:lpstr>
      <vt:lpstr>Reading Body Language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Windows User</cp:lastModifiedBy>
  <cp:revision>6</cp:revision>
  <dcterms:created xsi:type="dcterms:W3CDTF">2025-10-08T06:35:05Z</dcterms:created>
  <dcterms:modified xsi:type="dcterms:W3CDTF">2025-10-23T10:48:01Z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2025-10-08T00:00:00Z</vt:filetime>
  </property>
  <property fmtid="{D5CDD505-2E9C-101B-9397-08002B2CF9AE}" pid="5" name="Producer">
    <vt:lpwstr>Microsoft® PowerPoint® for Microsoft 365</vt:lpwstr>
  </property>
</Properties>
</file>